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7" r:id="rId3"/>
    <p:sldId id="258" r:id="rId4"/>
    <p:sldId id="278" r:id="rId5"/>
    <p:sldId id="259" r:id="rId6"/>
    <p:sldId id="279" r:id="rId7"/>
    <p:sldId id="260" r:id="rId8"/>
    <p:sldId id="281" r:id="rId9"/>
    <p:sldId id="261" r:id="rId10"/>
    <p:sldId id="282" r:id="rId11"/>
    <p:sldId id="262" r:id="rId12"/>
    <p:sldId id="283" r:id="rId13"/>
    <p:sldId id="284" r:id="rId14"/>
    <p:sldId id="285" r:id="rId15"/>
    <p:sldId id="286" r:id="rId16"/>
    <p:sldId id="287" r:id="rId17"/>
    <p:sldId id="288" r:id="rId18"/>
    <p:sldId id="289" r:id="rId19"/>
    <p:sldId id="290" r:id="rId20"/>
    <p:sldId id="291" r:id="rId21"/>
    <p:sldId id="263" r:id="rId22"/>
    <p:sldId id="292" r:id="rId23"/>
    <p:sldId id="293" r:id="rId24"/>
    <p:sldId id="294" r:id="rId25"/>
    <p:sldId id="295" r:id="rId26"/>
    <p:sldId id="296" r:id="rId27"/>
    <p:sldId id="297" r:id="rId28"/>
    <p:sldId id="298" r:id="rId29"/>
    <p:sldId id="299" r:id="rId30"/>
    <p:sldId id="301" r:id="rId31"/>
    <p:sldId id="302" r:id="rId32"/>
    <p:sldId id="300" r:id="rId33"/>
    <p:sldId id="277" r:id="rId3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0" d="100"/>
          <a:sy n="50" d="100"/>
        </p:scale>
        <p:origin x="-1378" y="-72"/>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30597E42-0484-4B8B-A967-345164339574}" type="datetimeFigureOut">
              <a:rPr lang="en-US" smtClean="0"/>
              <a:pPr/>
              <a:t>10/21/2024</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B10F2294-15DF-45E3-A615-81B141DC8F5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10F2294-15DF-45E3-A615-81B141DC8F55}" type="slidenum">
              <a:rPr lang="en-US" smtClean="0"/>
              <a:pPr/>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10/21/2024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10/21/2024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tx1"/>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10/21/2024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10/21/2024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10/21/2024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363343" y="191840"/>
            <a:ext cx="6417312" cy="635000"/>
          </a:xfrm>
          <a:prstGeom prst="rect">
            <a:avLst/>
          </a:prstGeom>
        </p:spPr>
        <p:txBody>
          <a:bodyPr wrap="square" lIns="0" tIns="0" rIns="0" bIns="0">
            <a:spAutoFit/>
          </a:bodyPr>
          <a:lstStyle>
            <a:lvl1pPr>
              <a:defRPr sz="4000" b="0" i="0">
                <a:solidFill>
                  <a:schemeClr val="tx1"/>
                </a:solidFill>
                <a:latin typeface="Calibri"/>
                <a:cs typeface="Calibri"/>
              </a:defRPr>
            </a:lvl1pPr>
          </a:lstStyle>
          <a:p>
            <a:endParaRPr/>
          </a:p>
        </p:txBody>
      </p:sp>
      <p:sp>
        <p:nvSpPr>
          <p:cNvPr id="3" name="Holder 3"/>
          <p:cNvSpPr>
            <a:spLocks noGrp="1"/>
          </p:cNvSpPr>
          <p:nvPr>
            <p:ph type="body" idx="1"/>
          </p:nvPr>
        </p:nvSpPr>
        <p:spPr>
          <a:xfrm>
            <a:off x="535940" y="2681565"/>
            <a:ext cx="7583805" cy="2269490"/>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10/21/2024</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hyperlink" Target="https://www.simplilearn.com/tutorials/hadoop-tutorial/what-is-hadoop" TargetMode="Externa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hyperlink" Target="https://www.geeksforgeeks.org/machine-learning/" TargetMode="Externa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3999" cy="6857999"/>
          </a:xfrm>
          <a:prstGeom prst="rect">
            <a:avLst/>
          </a:prstGeom>
        </p:spPr>
      </p:pic>
      <p:sp>
        <p:nvSpPr>
          <p:cNvPr id="3" name="object 3"/>
          <p:cNvSpPr txBox="1">
            <a:spLocks noGrp="1"/>
          </p:cNvSpPr>
          <p:nvPr>
            <p:ph type="title"/>
          </p:nvPr>
        </p:nvSpPr>
        <p:spPr>
          <a:xfrm>
            <a:off x="1143000" y="1981200"/>
            <a:ext cx="6137910" cy="528320"/>
          </a:xfrm>
          <a:prstGeom prst="rect">
            <a:avLst/>
          </a:prstGeom>
        </p:spPr>
        <p:txBody>
          <a:bodyPr vert="horz" wrap="square" lIns="0" tIns="12700" rIns="0" bIns="0" rtlCol="0">
            <a:spAutoFit/>
          </a:bodyPr>
          <a:lstStyle/>
          <a:p>
            <a:pPr marL="12700" algn="ctr">
              <a:lnSpc>
                <a:spcPct val="100000"/>
              </a:lnSpc>
              <a:spcBef>
                <a:spcPts val="100"/>
              </a:spcBef>
            </a:pPr>
            <a:r>
              <a:rPr sz="3300" spc="180" dirty="0" smtClean="0">
                <a:solidFill>
                  <a:srgbClr val="F70017"/>
                </a:solidFill>
                <a:latin typeface="Times New Roman"/>
                <a:cs typeface="Times New Roman"/>
              </a:rPr>
              <a:t> </a:t>
            </a:r>
            <a:r>
              <a:rPr sz="3300" b="1" spc="-5" dirty="0">
                <a:solidFill>
                  <a:srgbClr val="F70017"/>
                </a:solidFill>
                <a:latin typeface="Trebuchet MS"/>
                <a:cs typeface="Trebuchet MS"/>
              </a:rPr>
              <a:t>B</a:t>
            </a:r>
            <a:r>
              <a:rPr sz="3300" b="1" spc="5" dirty="0">
                <a:solidFill>
                  <a:srgbClr val="F70017"/>
                </a:solidFill>
                <a:latin typeface="Trebuchet MS"/>
                <a:cs typeface="Trebuchet MS"/>
              </a:rPr>
              <a:t>I</a:t>
            </a:r>
            <a:r>
              <a:rPr sz="3300" b="1" dirty="0">
                <a:solidFill>
                  <a:srgbClr val="F70017"/>
                </a:solidFill>
                <a:latin typeface="Trebuchet MS"/>
                <a:cs typeface="Trebuchet MS"/>
              </a:rPr>
              <a:t>G</a:t>
            </a:r>
            <a:r>
              <a:rPr sz="3300" spc="150" dirty="0">
                <a:solidFill>
                  <a:srgbClr val="F70017"/>
                </a:solidFill>
                <a:latin typeface="Times New Roman"/>
                <a:cs typeface="Times New Roman"/>
              </a:rPr>
              <a:t> </a:t>
            </a:r>
            <a:r>
              <a:rPr sz="3300" b="1" dirty="0">
                <a:solidFill>
                  <a:srgbClr val="F70017"/>
                </a:solidFill>
                <a:latin typeface="Trebuchet MS"/>
                <a:cs typeface="Trebuchet MS"/>
              </a:rPr>
              <a:t>D</a:t>
            </a:r>
            <a:r>
              <a:rPr sz="3300" b="1" spc="-310" dirty="0">
                <a:solidFill>
                  <a:srgbClr val="F70017"/>
                </a:solidFill>
                <a:latin typeface="Trebuchet MS"/>
                <a:cs typeface="Trebuchet MS"/>
              </a:rPr>
              <a:t>A</a:t>
            </a:r>
            <a:r>
              <a:rPr sz="3300" b="1" spc="-315" dirty="0">
                <a:solidFill>
                  <a:srgbClr val="F70017"/>
                </a:solidFill>
                <a:latin typeface="Trebuchet MS"/>
                <a:cs typeface="Trebuchet MS"/>
              </a:rPr>
              <a:t>T</a:t>
            </a:r>
            <a:r>
              <a:rPr sz="3300" b="1" dirty="0">
                <a:solidFill>
                  <a:srgbClr val="F70017"/>
                </a:solidFill>
                <a:latin typeface="Trebuchet MS"/>
                <a:cs typeface="Trebuchet MS"/>
              </a:rPr>
              <a:t>A</a:t>
            </a:r>
            <a:r>
              <a:rPr sz="3300" spc="-180" dirty="0">
                <a:solidFill>
                  <a:srgbClr val="F70017"/>
                </a:solidFill>
                <a:latin typeface="Times New Roman"/>
                <a:cs typeface="Times New Roman"/>
              </a:rPr>
              <a:t> </a:t>
            </a:r>
            <a:r>
              <a:rPr sz="3300" b="1" spc="-5" dirty="0">
                <a:solidFill>
                  <a:srgbClr val="F70017"/>
                </a:solidFill>
                <a:latin typeface="Trebuchet MS"/>
                <a:cs typeface="Trebuchet MS"/>
              </a:rPr>
              <a:t>A</a:t>
            </a:r>
            <a:r>
              <a:rPr sz="3300" b="1" spc="5" dirty="0">
                <a:solidFill>
                  <a:srgbClr val="F70017"/>
                </a:solidFill>
                <a:latin typeface="Trebuchet MS"/>
                <a:cs typeface="Trebuchet MS"/>
              </a:rPr>
              <a:t>N</a:t>
            </a:r>
            <a:r>
              <a:rPr sz="3300" b="1" spc="-5" dirty="0">
                <a:solidFill>
                  <a:srgbClr val="F70017"/>
                </a:solidFill>
                <a:latin typeface="Trebuchet MS"/>
                <a:cs typeface="Trebuchet MS"/>
              </a:rPr>
              <a:t>A</a:t>
            </a:r>
            <a:r>
              <a:rPr sz="3300" b="1" spc="-240" dirty="0">
                <a:solidFill>
                  <a:srgbClr val="F70017"/>
                </a:solidFill>
                <a:latin typeface="Trebuchet MS"/>
                <a:cs typeface="Trebuchet MS"/>
              </a:rPr>
              <a:t>L</a:t>
            </a:r>
            <a:r>
              <a:rPr sz="3300" b="1" spc="-5" dirty="0">
                <a:solidFill>
                  <a:srgbClr val="F70017"/>
                </a:solidFill>
                <a:latin typeface="Trebuchet MS"/>
                <a:cs typeface="Trebuchet MS"/>
              </a:rPr>
              <a:t>YT</a:t>
            </a:r>
            <a:r>
              <a:rPr sz="3300" b="1" spc="5" dirty="0">
                <a:solidFill>
                  <a:srgbClr val="F70017"/>
                </a:solidFill>
                <a:latin typeface="Trebuchet MS"/>
                <a:cs typeface="Trebuchet MS"/>
              </a:rPr>
              <a:t>I</a:t>
            </a:r>
            <a:r>
              <a:rPr sz="3300" b="1" dirty="0">
                <a:solidFill>
                  <a:srgbClr val="F70017"/>
                </a:solidFill>
                <a:latin typeface="Trebuchet MS"/>
                <a:cs typeface="Trebuchet MS"/>
              </a:rPr>
              <a:t>CS</a:t>
            </a:r>
            <a:endParaRPr sz="3300" dirty="0">
              <a:latin typeface="Trebuchet MS"/>
              <a:cs typeface="Trebuchet MS"/>
            </a:endParaRPr>
          </a:p>
        </p:txBody>
      </p:sp>
      <p:sp>
        <p:nvSpPr>
          <p:cNvPr id="4" name="object 4"/>
          <p:cNvSpPr txBox="1"/>
          <p:nvPr/>
        </p:nvSpPr>
        <p:spPr>
          <a:xfrm>
            <a:off x="3581400" y="3276600"/>
            <a:ext cx="1524000" cy="520655"/>
          </a:xfrm>
          <a:prstGeom prst="rect">
            <a:avLst/>
          </a:prstGeom>
        </p:spPr>
        <p:txBody>
          <a:bodyPr vert="horz" wrap="square" lIns="0" tIns="12700" rIns="0" bIns="0" rtlCol="0">
            <a:spAutoFit/>
          </a:bodyPr>
          <a:lstStyle/>
          <a:p>
            <a:pPr marL="12700">
              <a:lnSpc>
                <a:spcPct val="100000"/>
              </a:lnSpc>
              <a:spcBef>
                <a:spcPts val="100"/>
              </a:spcBef>
            </a:pPr>
            <a:r>
              <a:rPr lang="en-IN" sz="3300" b="1" spc="5" dirty="0" smtClean="0">
                <a:solidFill>
                  <a:srgbClr val="F70017"/>
                </a:solidFill>
                <a:latin typeface="Trebuchet MS"/>
                <a:cs typeface="Trebuchet MS"/>
              </a:rPr>
              <a:t>UNIT-1</a:t>
            </a:r>
            <a:endParaRPr sz="3300" dirty="0">
              <a:latin typeface="Trebuchet MS"/>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09952" y="341116"/>
            <a:ext cx="2326005" cy="696595"/>
          </a:xfrm>
          <a:prstGeom prst="rect">
            <a:avLst/>
          </a:prstGeom>
        </p:spPr>
        <p:txBody>
          <a:bodyPr vert="horz" wrap="square" lIns="0" tIns="13335" rIns="0" bIns="0" rtlCol="0">
            <a:spAutoFit/>
          </a:bodyPr>
          <a:lstStyle/>
          <a:p>
            <a:pPr marL="12700">
              <a:lnSpc>
                <a:spcPct val="100000"/>
              </a:lnSpc>
              <a:spcBef>
                <a:spcPts val="105"/>
              </a:spcBef>
            </a:pPr>
            <a:r>
              <a:rPr lang="en-IN" sz="4400" b="1" dirty="0" smtClean="0">
                <a:latin typeface="Times New Roman"/>
                <a:cs typeface="Times New Roman"/>
              </a:rPr>
              <a:t>UNIT-1</a:t>
            </a:r>
            <a:endParaRPr sz="4400" dirty="0">
              <a:latin typeface="Times New Roman"/>
              <a:cs typeface="Times New Roman"/>
            </a:endParaRPr>
          </a:p>
        </p:txBody>
      </p:sp>
      <p:sp>
        <p:nvSpPr>
          <p:cNvPr id="4" name="object 4"/>
          <p:cNvSpPr txBox="1"/>
          <p:nvPr/>
        </p:nvSpPr>
        <p:spPr>
          <a:xfrm>
            <a:off x="8504942" y="6427116"/>
            <a:ext cx="10287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888888"/>
                </a:solidFill>
                <a:latin typeface="Calibri"/>
                <a:cs typeface="Calibri"/>
              </a:rPr>
              <a:t>2</a:t>
            </a:r>
            <a:endParaRPr sz="1200">
              <a:latin typeface="Calibri"/>
              <a:cs typeface="Calibri"/>
            </a:endParaRPr>
          </a:p>
        </p:txBody>
      </p:sp>
      <p:sp>
        <p:nvSpPr>
          <p:cNvPr id="5" name="Rectangle 4"/>
          <p:cNvSpPr/>
          <p:nvPr/>
        </p:nvSpPr>
        <p:spPr>
          <a:xfrm>
            <a:off x="228600" y="1143000"/>
            <a:ext cx="8458200" cy="5262979"/>
          </a:xfrm>
          <a:prstGeom prst="rect">
            <a:avLst/>
          </a:prstGeom>
        </p:spPr>
        <p:txBody>
          <a:bodyPr wrap="square">
            <a:spAutoFit/>
          </a:bodyPr>
          <a:lstStyle/>
          <a:p>
            <a:r>
              <a:rPr lang="en-US" sz="2400" b="1" dirty="0" smtClean="0"/>
              <a:t> Big Data Analytics:  </a:t>
            </a:r>
          </a:p>
          <a:p>
            <a:pPr>
              <a:buFont typeface="Wingdings" pitchFamily="2" charset="2"/>
              <a:buChar char="ü"/>
            </a:pPr>
            <a:r>
              <a:rPr lang="en-US" sz="2000" b="1" dirty="0" smtClean="0"/>
              <a:t> </a:t>
            </a:r>
            <a:r>
              <a:rPr lang="en-US" sz="2400" dirty="0" smtClean="0"/>
              <a:t>Define Big Data</a:t>
            </a:r>
          </a:p>
          <a:p>
            <a:pPr>
              <a:buFont typeface="Wingdings" pitchFamily="2" charset="2"/>
              <a:buChar char="ü"/>
            </a:pPr>
            <a:r>
              <a:rPr lang="en-US" sz="2400" dirty="0" smtClean="0"/>
              <a:t> Affects of Big Data on our daily lives</a:t>
            </a:r>
          </a:p>
          <a:p>
            <a:pPr>
              <a:buFont typeface="Wingdings" pitchFamily="2" charset="2"/>
              <a:buChar char="ü"/>
            </a:pPr>
            <a:r>
              <a:rPr lang="en-US" sz="2400" dirty="0" smtClean="0"/>
              <a:t> Data Sizes</a:t>
            </a:r>
          </a:p>
          <a:p>
            <a:pPr>
              <a:buFont typeface="Wingdings" pitchFamily="2" charset="2"/>
              <a:buChar char="ü"/>
            </a:pPr>
            <a:r>
              <a:rPr lang="en-US" sz="2400" dirty="0" smtClean="0"/>
              <a:t> Source of Big Data  </a:t>
            </a:r>
          </a:p>
          <a:p>
            <a:pPr>
              <a:buFont typeface="Wingdings" pitchFamily="2" charset="2"/>
              <a:buChar char="ü"/>
            </a:pPr>
            <a:r>
              <a:rPr lang="en-US" sz="2400" dirty="0" smtClean="0"/>
              <a:t> Challenges of Big Data </a:t>
            </a:r>
          </a:p>
          <a:p>
            <a:pPr>
              <a:buFont typeface="Wingdings" pitchFamily="2" charset="2"/>
              <a:buChar char="ü"/>
            </a:pPr>
            <a:r>
              <a:rPr lang="en-US" sz="2400" dirty="0" smtClean="0"/>
              <a:t> 5 V’s of Big Data</a:t>
            </a:r>
          </a:p>
          <a:p>
            <a:pPr>
              <a:buFont typeface="Wingdings" pitchFamily="2" charset="2"/>
              <a:buChar char="ü"/>
            </a:pPr>
            <a:r>
              <a:rPr lang="en-US" sz="2400" dirty="0" smtClean="0"/>
              <a:t> Types of Digital Data</a:t>
            </a:r>
          </a:p>
          <a:p>
            <a:pPr>
              <a:buFont typeface="Wingdings" pitchFamily="2" charset="2"/>
              <a:buChar char="ü"/>
            </a:pPr>
            <a:r>
              <a:rPr lang="en-US" sz="2400" dirty="0" smtClean="0"/>
              <a:t> Structured/Unstructured data- Advantages and Sources </a:t>
            </a:r>
          </a:p>
          <a:p>
            <a:pPr>
              <a:buFont typeface="Wingdings" pitchFamily="2" charset="2"/>
              <a:buChar char="ü"/>
            </a:pPr>
            <a:r>
              <a:rPr lang="en-US" sz="2400" dirty="0" smtClean="0"/>
              <a:t> Business Intelligence </a:t>
            </a:r>
          </a:p>
          <a:p>
            <a:pPr>
              <a:buFont typeface="Wingdings" pitchFamily="2" charset="2"/>
              <a:buChar char="ü"/>
            </a:pPr>
            <a:r>
              <a:rPr lang="en-US" sz="2400" dirty="0" smtClean="0"/>
              <a:t> Comparison business intelligence from traditional big data </a:t>
            </a:r>
          </a:p>
          <a:p>
            <a:pPr>
              <a:buFont typeface="Wingdings" pitchFamily="2" charset="2"/>
              <a:buChar char="ü"/>
            </a:pPr>
            <a:r>
              <a:rPr lang="en-US" sz="2400" dirty="0" smtClean="0"/>
              <a:t> Architecture of data warehouse </a:t>
            </a:r>
          </a:p>
          <a:p>
            <a:pPr>
              <a:buFont typeface="Wingdings" pitchFamily="2" charset="2"/>
              <a:buChar char="ü"/>
            </a:pPr>
            <a:r>
              <a:rPr lang="en-US" sz="2400" dirty="0" smtClean="0"/>
              <a:t> Analytical tools used for big data analytics</a:t>
            </a:r>
          </a:p>
          <a:p>
            <a:pPr>
              <a:buFont typeface="Wingdings" pitchFamily="2" charset="2"/>
              <a:buChar char="ü"/>
            </a:pPr>
            <a:r>
              <a:rPr lang="en-US" sz="2400" dirty="0" smtClean="0"/>
              <a:t> </a:t>
            </a:r>
            <a:r>
              <a:rPr lang="en-US" sz="2400" dirty="0" err="1" smtClean="0"/>
              <a:t>Hadoop</a:t>
            </a:r>
            <a:r>
              <a:rPr lang="en-US" sz="2400" dirty="0" smtClean="0"/>
              <a:t> environment and its components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a:xfrm>
            <a:off x="1363343" y="191840"/>
            <a:ext cx="6417312" cy="492443"/>
          </a:xfrm>
        </p:spPr>
        <p:txBody>
          <a:bodyPr/>
          <a:lstStyle/>
          <a:p>
            <a:pPr algn="ctr"/>
            <a:r>
              <a:rPr lang="en-IN" sz="3200" b="1" u="sng" dirty="0" smtClean="0"/>
              <a:t>Define Big Data</a:t>
            </a:r>
            <a:endParaRPr lang="en-US" sz="3200" b="1" u="sng" dirty="0"/>
          </a:p>
        </p:txBody>
      </p:sp>
      <p:sp>
        <p:nvSpPr>
          <p:cNvPr id="5" name="Rectangle 4"/>
          <p:cNvSpPr/>
          <p:nvPr/>
        </p:nvSpPr>
        <p:spPr>
          <a:xfrm>
            <a:off x="304800" y="685800"/>
            <a:ext cx="7924800" cy="1938992"/>
          </a:xfrm>
          <a:prstGeom prst="rect">
            <a:avLst/>
          </a:prstGeom>
        </p:spPr>
        <p:txBody>
          <a:bodyPr wrap="square">
            <a:spAutoFit/>
          </a:bodyPr>
          <a:lstStyle/>
          <a:p>
            <a:r>
              <a:rPr lang="en-US" sz="2400" b="1" dirty="0" smtClean="0"/>
              <a:t>What is Data?</a:t>
            </a:r>
          </a:p>
          <a:p>
            <a:r>
              <a:rPr lang="en-US" sz="2400" dirty="0" smtClean="0"/>
              <a:t>The quantities, characters, or symbols on which operations are performed by a computer, which may be stored and transmitted in the form of electrical signals and recorded on magnetic, optical, or mechanical recording media</a:t>
            </a:r>
            <a:r>
              <a:rPr lang="en-US" dirty="0" smtClean="0"/>
              <a:t>.</a:t>
            </a:r>
            <a:endParaRPr lang="en-US" dirty="0"/>
          </a:p>
        </p:txBody>
      </p:sp>
      <p:sp>
        <p:nvSpPr>
          <p:cNvPr id="6" name="Rectangle 5"/>
          <p:cNvSpPr/>
          <p:nvPr/>
        </p:nvSpPr>
        <p:spPr>
          <a:xfrm>
            <a:off x="381000" y="2667000"/>
            <a:ext cx="8382000" cy="6186309"/>
          </a:xfrm>
          <a:prstGeom prst="rect">
            <a:avLst/>
          </a:prstGeom>
        </p:spPr>
        <p:txBody>
          <a:bodyPr wrap="square">
            <a:spAutoFit/>
          </a:bodyPr>
          <a:lstStyle/>
          <a:p>
            <a:r>
              <a:rPr lang="en-US" sz="2400" b="1" dirty="0" smtClean="0"/>
              <a:t>What is Big Data?</a:t>
            </a:r>
          </a:p>
          <a:p>
            <a:r>
              <a:rPr lang="en-US" sz="2400" b="1" dirty="0" smtClean="0">
                <a:solidFill>
                  <a:schemeClr val="accent6">
                    <a:lumMod val="75000"/>
                  </a:schemeClr>
                </a:solidFill>
              </a:rPr>
              <a:t>Big Data</a:t>
            </a:r>
            <a:r>
              <a:rPr lang="en-US" sz="2400" dirty="0" smtClean="0">
                <a:solidFill>
                  <a:schemeClr val="accent6">
                    <a:lumMod val="75000"/>
                  </a:schemeClr>
                </a:solidFill>
              </a:rPr>
              <a:t> is a collection of data that is huge in volume, yet growing exponentially with time. It is a data with so large size and complexity that none of traditional data management tools can store it or process it efficiently. Big data is also a data but with huge size.</a:t>
            </a:r>
          </a:p>
          <a:p>
            <a:r>
              <a:rPr lang="en-IN" sz="2400" dirty="0" smtClean="0">
                <a:solidFill>
                  <a:schemeClr val="accent6">
                    <a:lumMod val="75000"/>
                  </a:schemeClr>
                </a:solidFill>
              </a:rPr>
              <a:t>Big Data: Large diverse sets of information that grow at ever-increasing rates.</a:t>
            </a:r>
          </a:p>
          <a:p>
            <a:endParaRPr lang="en-IN" sz="2400" dirty="0" smtClean="0">
              <a:solidFill>
                <a:schemeClr val="accent6">
                  <a:lumMod val="75000"/>
                </a:schemeClr>
              </a:solidFill>
            </a:endParaRPr>
          </a:p>
          <a:p>
            <a:endParaRPr lang="en-IN" dirty="0" smtClean="0">
              <a:solidFill>
                <a:schemeClr val="accent6">
                  <a:lumMod val="75000"/>
                </a:schemeClr>
              </a:solidFill>
            </a:endParaRPr>
          </a:p>
          <a:p>
            <a:endParaRPr lang="en-IN" dirty="0" smtClean="0">
              <a:solidFill>
                <a:schemeClr val="accent6">
                  <a:lumMod val="75000"/>
                </a:schemeClr>
              </a:solidFill>
            </a:endParaRPr>
          </a:p>
          <a:p>
            <a:endParaRPr lang="en-IN" dirty="0" smtClean="0">
              <a:solidFill>
                <a:schemeClr val="accent6">
                  <a:lumMod val="75000"/>
                </a:schemeClr>
              </a:solidFill>
            </a:endParaRPr>
          </a:p>
          <a:p>
            <a:endParaRPr lang="en-US" dirty="0" smtClean="0">
              <a:solidFill>
                <a:schemeClr val="accent6">
                  <a:lumMod val="75000"/>
                </a:schemeClr>
              </a:solidFill>
            </a:endParaRPr>
          </a:p>
          <a:p>
            <a:r>
              <a:rPr lang="en-US" dirty="0" smtClean="0"/>
              <a:t/>
            </a:r>
            <a:br>
              <a:rPr lang="en-US" dirty="0" smtClean="0"/>
            </a:br>
            <a:endParaRPr lang="en-US" dirty="0" smtClean="0"/>
          </a:p>
          <a:p>
            <a:endParaRPr lang="en-US" dirty="0" smtClean="0"/>
          </a:p>
          <a:p>
            <a:endParaRPr lang="en-US" dirty="0" smtClean="0"/>
          </a:p>
          <a:p>
            <a:r>
              <a:rPr lang="en-US" dirty="0" smtClean="0"/>
              <a:t/>
            </a:r>
            <a:br>
              <a:rPr lang="en-US" dirty="0" smtClean="0"/>
            </a:b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228600"/>
            <a:ext cx="8382000" cy="5262979"/>
          </a:xfrm>
          <a:prstGeom prst="rect">
            <a:avLst/>
          </a:prstGeom>
        </p:spPr>
        <p:txBody>
          <a:bodyPr wrap="square">
            <a:spAutoFit/>
          </a:bodyPr>
          <a:lstStyle/>
          <a:p>
            <a:r>
              <a:rPr lang="en-US" sz="2400" dirty="0" smtClean="0"/>
              <a:t>Following are some of the Big Data examples-</a:t>
            </a:r>
          </a:p>
          <a:p>
            <a:endParaRPr lang="en-US" sz="2400" dirty="0" smtClean="0"/>
          </a:p>
          <a:p>
            <a:r>
              <a:rPr lang="en-US" sz="2400" dirty="0" smtClean="0"/>
              <a:t>The </a:t>
            </a:r>
            <a:r>
              <a:rPr lang="en-US" sz="2400" b="1" dirty="0" smtClean="0"/>
              <a:t>New York Stock Exchange</a:t>
            </a:r>
            <a:r>
              <a:rPr lang="en-US" sz="2400" dirty="0" smtClean="0"/>
              <a:t> is an example of Big Data that generates about </a:t>
            </a:r>
            <a:r>
              <a:rPr lang="en-US" sz="2400" b="1" dirty="0" smtClean="0"/>
              <a:t>one terabyte</a:t>
            </a:r>
            <a:r>
              <a:rPr lang="en-US" sz="2400" dirty="0" smtClean="0"/>
              <a:t> of new trade data per day.</a:t>
            </a:r>
          </a:p>
          <a:p>
            <a:endParaRPr lang="en-US" sz="2400" dirty="0" smtClean="0"/>
          </a:p>
          <a:p>
            <a:r>
              <a:rPr lang="en-US" sz="2400" b="1" dirty="0" smtClean="0"/>
              <a:t>Social Media</a:t>
            </a:r>
            <a:endParaRPr lang="en-US" sz="2400" dirty="0" smtClean="0"/>
          </a:p>
          <a:p>
            <a:r>
              <a:rPr lang="en-US" sz="2400" dirty="0" smtClean="0"/>
              <a:t>The statistic shows that </a:t>
            </a:r>
            <a:r>
              <a:rPr lang="en-US" sz="2400" b="1" dirty="0" smtClean="0"/>
              <a:t>500+terabytes</a:t>
            </a:r>
            <a:r>
              <a:rPr lang="en-US" sz="2400" dirty="0" smtClean="0"/>
              <a:t> of new data get ingested into the databases of social media site </a:t>
            </a:r>
            <a:r>
              <a:rPr lang="en-US" sz="2400" b="1" dirty="0" err="1" smtClean="0"/>
              <a:t>Facebook</a:t>
            </a:r>
            <a:r>
              <a:rPr lang="en-US" sz="2400" dirty="0" smtClean="0"/>
              <a:t>, every day. This data is mainly generated in terms of photo and video uploads, message exchanges, putting comments etc.</a:t>
            </a:r>
          </a:p>
          <a:p>
            <a:endParaRPr lang="en-US" sz="2400" dirty="0" smtClean="0"/>
          </a:p>
          <a:p>
            <a:r>
              <a:rPr lang="en-US" sz="2400" dirty="0" smtClean="0"/>
              <a:t>A single </a:t>
            </a:r>
            <a:r>
              <a:rPr lang="en-US" sz="2400" b="1" dirty="0" smtClean="0"/>
              <a:t>Jet engine</a:t>
            </a:r>
            <a:r>
              <a:rPr lang="en-US" sz="2400" dirty="0" smtClean="0"/>
              <a:t> can generate </a:t>
            </a:r>
            <a:r>
              <a:rPr lang="en-US" sz="2400" b="1" dirty="0" smtClean="0"/>
              <a:t>10+terabytes</a:t>
            </a:r>
            <a:r>
              <a:rPr lang="en-US" sz="2400" dirty="0" smtClean="0"/>
              <a:t> of data in </a:t>
            </a:r>
            <a:r>
              <a:rPr lang="en-US" sz="2400" b="1" dirty="0" smtClean="0"/>
              <a:t>30 minutes</a:t>
            </a:r>
            <a:r>
              <a:rPr lang="en-US" sz="2400" dirty="0" smtClean="0"/>
              <a:t> of flight time. With many thousand flights per day, generation of data reaches up to many </a:t>
            </a:r>
            <a:r>
              <a:rPr lang="en-US" sz="2400" b="1" dirty="0" err="1" smtClean="0"/>
              <a:t>Petabytes</a:t>
            </a:r>
            <a:r>
              <a:rPr lang="en-US" sz="2400" b="1" dirty="0" smtClean="0"/>
              <a:t>.</a:t>
            </a:r>
            <a:endParaRPr lang="en-US" sz="2400"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228600"/>
            <a:ext cx="8305800" cy="505908"/>
          </a:xfrm>
          <a:prstGeom prst="rect">
            <a:avLst/>
          </a:prstGeom>
        </p:spPr>
        <p:txBody>
          <a:bodyPr vert="horz" wrap="square" lIns="0" tIns="13335" rIns="0" bIns="0" rtlCol="0">
            <a:spAutoFit/>
          </a:bodyPr>
          <a:lstStyle/>
          <a:p>
            <a:pPr marL="12700">
              <a:lnSpc>
                <a:spcPct val="100000"/>
              </a:lnSpc>
              <a:spcBef>
                <a:spcPts val="105"/>
              </a:spcBef>
            </a:pPr>
            <a:r>
              <a:rPr lang="en-US" sz="3200" b="1" u="sng" dirty="0" smtClean="0">
                <a:solidFill>
                  <a:schemeClr val="accent6">
                    <a:lumMod val="75000"/>
                  </a:schemeClr>
                </a:solidFill>
              </a:rPr>
              <a:t>Affects of Big Data on our daily lives:</a:t>
            </a:r>
            <a:endParaRPr sz="3200" b="1" u="sng" dirty="0">
              <a:solidFill>
                <a:schemeClr val="accent6">
                  <a:lumMod val="75000"/>
                </a:schemeClr>
              </a:solidFill>
              <a:latin typeface="Times New Roman"/>
              <a:cs typeface="Times New Roman"/>
            </a:endParaRPr>
          </a:p>
        </p:txBody>
      </p:sp>
      <p:sp>
        <p:nvSpPr>
          <p:cNvPr id="3" name="object 3"/>
          <p:cNvSpPr txBox="1"/>
          <p:nvPr/>
        </p:nvSpPr>
        <p:spPr>
          <a:xfrm>
            <a:off x="381000" y="762000"/>
            <a:ext cx="8067040" cy="7152599"/>
          </a:xfrm>
          <a:prstGeom prst="rect">
            <a:avLst/>
          </a:prstGeom>
        </p:spPr>
        <p:txBody>
          <a:bodyPr vert="horz" wrap="square" lIns="0" tIns="100965" rIns="0" bIns="0" rtlCol="0">
            <a:spAutoFit/>
          </a:bodyPr>
          <a:lstStyle/>
          <a:p>
            <a:pPr marL="355600" marR="247015" indent="-343535">
              <a:lnSpc>
                <a:spcPts val="2880"/>
              </a:lnSpc>
              <a:spcBef>
                <a:spcPts val="795"/>
              </a:spcBef>
              <a:buFont typeface="Arial MT"/>
              <a:buChar char="•"/>
              <a:tabLst>
                <a:tab pos="355600" algn="l"/>
                <a:tab pos="356235" algn="l"/>
              </a:tabLst>
            </a:pPr>
            <a:r>
              <a:rPr lang="en-IN" sz="2400" dirty="0" smtClean="0">
                <a:latin typeface="Calibri"/>
                <a:cs typeface="Calibri"/>
              </a:rPr>
              <a:t>Health care: A life changing application</a:t>
            </a:r>
          </a:p>
          <a:p>
            <a:pPr marL="355600" marR="247015" indent="-343535">
              <a:lnSpc>
                <a:spcPts val="2880"/>
              </a:lnSpc>
              <a:spcBef>
                <a:spcPts val="795"/>
              </a:spcBef>
              <a:buFont typeface="Arial MT"/>
              <a:buChar char="•"/>
              <a:tabLst>
                <a:tab pos="355600" algn="l"/>
                <a:tab pos="356235" algn="l"/>
              </a:tabLst>
            </a:pPr>
            <a:r>
              <a:rPr lang="en-US" sz="2400" dirty="0" smtClean="0"/>
              <a:t>Retail: Understanding consumer behavior</a:t>
            </a:r>
          </a:p>
          <a:p>
            <a:pPr marL="355600" marR="247015" indent="-343535">
              <a:lnSpc>
                <a:spcPts val="2880"/>
              </a:lnSpc>
              <a:spcBef>
                <a:spcPts val="795"/>
              </a:spcBef>
              <a:buFont typeface="Arial MT"/>
              <a:buChar char="•"/>
              <a:tabLst>
                <a:tab pos="355600" algn="l"/>
                <a:tab pos="356235" algn="l"/>
              </a:tabLst>
            </a:pPr>
            <a:r>
              <a:rPr lang="en-US" sz="2400" dirty="0" smtClean="0"/>
              <a:t>Banking: Security and personalization</a:t>
            </a:r>
          </a:p>
          <a:p>
            <a:pPr marL="355600" marR="247015" indent="-343535">
              <a:lnSpc>
                <a:spcPts val="2880"/>
              </a:lnSpc>
              <a:spcBef>
                <a:spcPts val="795"/>
              </a:spcBef>
              <a:buFont typeface="Arial MT"/>
              <a:buChar char="•"/>
              <a:tabLst>
                <a:tab pos="355600" algn="l"/>
                <a:tab pos="356235" algn="l"/>
              </a:tabLst>
            </a:pPr>
            <a:r>
              <a:rPr lang="en-US" sz="2400" dirty="0" smtClean="0"/>
              <a:t>Transportation: Smoothing your commute</a:t>
            </a:r>
          </a:p>
          <a:p>
            <a:pPr marL="355600" marR="247015" indent="-343535">
              <a:lnSpc>
                <a:spcPts val="2880"/>
              </a:lnSpc>
              <a:spcBef>
                <a:spcPts val="795"/>
              </a:spcBef>
              <a:buFont typeface="Arial MT"/>
              <a:buChar char="•"/>
              <a:tabLst>
                <a:tab pos="355600" algn="l"/>
                <a:tab pos="356235" algn="l"/>
              </a:tabLst>
            </a:pPr>
            <a:r>
              <a:rPr lang="en-US" sz="2400" dirty="0" smtClean="0"/>
              <a:t>Agriculture: Feeding the future</a:t>
            </a:r>
          </a:p>
          <a:p>
            <a:pPr marL="355600" marR="247015" indent="-343535">
              <a:lnSpc>
                <a:spcPts val="2880"/>
              </a:lnSpc>
              <a:spcBef>
                <a:spcPts val="795"/>
              </a:spcBef>
              <a:buFont typeface="Arial MT"/>
              <a:buChar char="•"/>
              <a:tabLst>
                <a:tab pos="355600" algn="l"/>
                <a:tab pos="356235" algn="l"/>
              </a:tabLst>
            </a:pPr>
            <a:r>
              <a:rPr lang="en-US" sz="2400" dirty="0" smtClean="0"/>
              <a:t>Entertainment: </a:t>
            </a:r>
            <a:r>
              <a:rPr lang="en-US" sz="2400" dirty="0" err="1" smtClean="0"/>
              <a:t>Curating</a:t>
            </a:r>
            <a:r>
              <a:rPr lang="en-US" sz="2400" dirty="0" smtClean="0"/>
              <a:t> your content</a:t>
            </a:r>
          </a:p>
          <a:p>
            <a:pPr marL="355600" marR="247015" indent="-343535">
              <a:lnSpc>
                <a:spcPts val="2880"/>
              </a:lnSpc>
              <a:spcBef>
                <a:spcPts val="795"/>
              </a:spcBef>
              <a:buFont typeface="Arial MT"/>
              <a:buChar char="•"/>
              <a:tabLst>
                <a:tab pos="355600" algn="l"/>
                <a:tab pos="356235" algn="l"/>
              </a:tabLst>
            </a:pPr>
            <a:r>
              <a:rPr lang="en-US" sz="2400" dirty="0" smtClean="0"/>
              <a:t>Smart Cities: Enhancing urban living</a:t>
            </a:r>
          </a:p>
          <a:p>
            <a:pPr marL="355600" marR="247015" indent="-343535">
              <a:lnSpc>
                <a:spcPts val="2880"/>
              </a:lnSpc>
              <a:spcBef>
                <a:spcPts val="795"/>
              </a:spcBef>
              <a:buFont typeface="Arial MT"/>
              <a:buChar char="•"/>
              <a:tabLst>
                <a:tab pos="355600" algn="l"/>
                <a:tab pos="356235" algn="l"/>
              </a:tabLst>
            </a:pPr>
            <a:r>
              <a:rPr lang="en-US" sz="2400" dirty="0" smtClean="0"/>
              <a:t>Education: Personalized learning experiences</a:t>
            </a:r>
          </a:p>
          <a:p>
            <a:pPr marL="355600" marR="247015" indent="-343535">
              <a:lnSpc>
                <a:spcPts val="2880"/>
              </a:lnSpc>
              <a:spcBef>
                <a:spcPts val="795"/>
              </a:spcBef>
              <a:buFont typeface="Arial MT"/>
              <a:buChar char="•"/>
              <a:tabLst>
                <a:tab pos="355600" algn="l"/>
                <a:tab pos="356235" algn="l"/>
              </a:tabLst>
            </a:pPr>
            <a:r>
              <a:rPr lang="en-IN" sz="2400" dirty="0" smtClean="0"/>
              <a:t>Driving Business strategies</a:t>
            </a:r>
          </a:p>
          <a:p>
            <a:pPr marL="355600" marR="247015" indent="-343535">
              <a:lnSpc>
                <a:spcPts val="2880"/>
              </a:lnSpc>
              <a:spcBef>
                <a:spcPts val="795"/>
              </a:spcBef>
              <a:buFont typeface="Arial MT"/>
              <a:buChar char="•"/>
              <a:tabLst>
                <a:tab pos="355600" algn="l"/>
                <a:tab pos="356235" algn="l"/>
              </a:tabLst>
            </a:pPr>
            <a:r>
              <a:rPr lang="en-IN" sz="2400" dirty="0" smtClean="0"/>
              <a:t>Enhancing Decision making</a:t>
            </a:r>
          </a:p>
          <a:p>
            <a:pPr marL="355600" marR="247015" indent="-343535">
              <a:lnSpc>
                <a:spcPts val="2880"/>
              </a:lnSpc>
              <a:spcBef>
                <a:spcPts val="795"/>
              </a:spcBef>
              <a:buFont typeface="Arial MT"/>
              <a:buChar char="•"/>
              <a:tabLst>
                <a:tab pos="355600" algn="l"/>
                <a:tab pos="356235" algn="l"/>
              </a:tabLst>
            </a:pPr>
            <a:r>
              <a:rPr lang="en-IN" sz="2400" dirty="0" smtClean="0"/>
              <a:t>Improved Efficiency and Productivity</a:t>
            </a:r>
          </a:p>
          <a:p>
            <a:pPr marL="355600" marR="247015" indent="-343535">
              <a:lnSpc>
                <a:spcPts val="2880"/>
              </a:lnSpc>
              <a:spcBef>
                <a:spcPts val="795"/>
              </a:spcBef>
              <a:buFont typeface="Arial MT"/>
              <a:buChar char="•"/>
              <a:tabLst>
                <a:tab pos="355600" algn="l"/>
                <a:tab pos="356235" algn="l"/>
              </a:tabLst>
            </a:pPr>
            <a:r>
              <a:rPr lang="en-IN" sz="2400" dirty="0" smtClean="0"/>
              <a:t>Risk and Fraud detection</a:t>
            </a:r>
            <a:endParaRPr lang="en-US" sz="2400" dirty="0" smtClean="0"/>
          </a:p>
          <a:p>
            <a:r>
              <a:rPr lang="en-US" sz="3200" dirty="0" smtClean="0"/>
              <a:t/>
            </a:r>
            <a:br>
              <a:rPr lang="en-US" sz="3200" dirty="0" smtClean="0"/>
            </a:br>
            <a:endParaRPr lang="en-US" sz="3200" dirty="0" smtClean="0"/>
          </a:p>
          <a:p>
            <a:pPr marL="355600" marR="247015" indent="-343535">
              <a:lnSpc>
                <a:spcPts val="2880"/>
              </a:lnSpc>
              <a:spcBef>
                <a:spcPts val="795"/>
              </a:spcBef>
              <a:buFont typeface="Arial MT"/>
              <a:buChar char="•"/>
              <a:tabLst>
                <a:tab pos="355600" algn="l"/>
                <a:tab pos="356235" algn="l"/>
              </a:tabLst>
            </a:pPr>
            <a:endParaRPr sz="30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2400" y="152400"/>
            <a:ext cx="8991600" cy="6401753"/>
          </a:xfrm>
        </p:spPr>
        <p:txBody>
          <a:bodyPr/>
          <a:lstStyle/>
          <a:p>
            <a:pPr fontAlgn="base"/>
            <a:r>
              <a:rPr lang="en-US" sz="2400" b="1" dirty="0" smtClean="0"/>
              <a:t>Conclusion: The impact of big data on our lives</a:t>
            </a:r>
          </a:p>
          <a:p>
            <a:pPr fontAlgn="base"/>
            <a:endParaRPr lang="en-US" sz="800" dirty="0" smtClean="0"/>
          </a:p>
          <a:p>
            <a:pPr fontAlgn="base"/>
            <a:r>
              <a:rPr lang="en-US" sz="2400" dirty="0" smtClean="0"/>
              <a:t>Big data is more than a technological innovation; it’s a transformative force reshaping every aspect of our lives. From enhancing healthcare and retail experiences to optimizing transportation and agriculture, real-life big data examples illustrate its vast potential. As we continue to generate and analyze more data, its impact will only grow, offering new insights and opportunities across all sectors. While the concept might seem daunting, its real-world applications show how big data makes our world smarter, more efficient, and more personalized.</a:t>
            </a:r>
          </a:p>
          <a:p>
            <a:pPr fontAlgn="base"/>
            <a:endParaRPr lang="en-US" sz="2400" dirty="0" smtClean="0"/>
          </a:p>
          <a:p>
            <a:pPr fontAlgn="base"/>
            <a:r>
              <a:rPr lang="en-US" sz="2400" dirty="0" smtClean="0"/>
              <a:t>Big data is a powerful tool, but it’s essential to navigate its use carefully, considering privacy and ethical implications. As we embrace its benefits, we must also advocate for responsible data practices, ensuring that big data serves the greater good without compromising individual rights. The future of big data is bright, and its possibilities are as vast as the datasets it comprises. By understanding and harnessing its power, we can unlock innovations that, until now, we could only imagine.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95600" y="304800"/>
            <a:ext cx="3290570" cy="505908"/>
          </a:xfrm>
          <a:prstGeom prst="rect">
            <a:avLst/>
          </a:prstGeom>
        </p:spPr>
        <p:txBody>
          <a:bodyPr vert="horz" wrap="square" lIns="0" tIns="13335" rIns="0" bIns="0" rtlCol="0">
            <a:spAutoFit/>
          </a:bodyPr>
          <a:lstStyle/>
          <a:p>
            <a:pPr marL="12700" algn="ctr">
              <a:lnSpc>
                <a:spcPct val="100000"/>
              </a:lnSpc>
              <a:spcBef>
                <a:spcPts val="105"/>
              </a:spcBef>
            </a:pPr>
            <a:r>
              <a:rPr lang="en-IN" sz="3200" b="1" u="sng" dirty="0" smtClean="0">
                <a:latin typeface="Times New Roman"/>
                <a:cs typeface="Times New Roman"/>
              </a:rPr>
              <a:t>Data Sizes</a:t>
            </a:r>
            <a:endParaRPr sz="3200" u="sng" dirty="0">
              <a:latin typeface="Times New Roman"/>
              <a:cs typeface="Times New Roman"/>
            </a:endParaRPr>
          </a:p>
        </p:txBody>
      </p:sp>
      <p:graphicFrame>
        <p:nvGraphicFramePr>
          <p:cNvPr id="5" name="Table 4"/>
          <p:cNvGraphicFramePr>
            <a:graphicFrameLocks noGrp="1"/>
          </p:cNvGraphicFramePr>
          <p:nvPr/>
        </p:nvGraphicFramePr>
        <p:xfrm>
          <a:off x="838200" y="1981200"/>
          <a:ext cx="7239000" cy="4023360"/>
        </p:xfrm>
        <a:graphic>
          <a:graphicData uri="http://schemas.openxmlformats.org/drawingml/2006/table">
            <a:tbl>
              <a:tblPr/>
              <a:tblGrid>
                <a:gridCol w="2413000"/>
                <a:gridCol w="2413000"/>
                <a:gridCol w="2413000"/>
              </a:tblGrid>
              <a:tr h="0">
                <a:tc>
                  <a:txBody>
                    <a:bodyPr/>
                    <a:lstStyle/>
                    <a:p>
                      <a:pPr algn="l" fontAlgn="ctr" latinLnBrk="0"/>
                      <a:r>
                        <a:rPr lang="en-US" b="1" dirty="0"/>
                        <a:t>Data Storage Unit</a:t>
                      </a:r>
                    </a:p>
                  </a:txBody>
                  <a:tcPr anchor="ctr">
                    <a:lnL>
                      <a:noFill/>
                    </a:lnL>
                    <a:lnR>
                      <a:noFill/>
                    </a:lnR>
                    <a:lnT>
                      <a:noFill/>
                    </a:lnT>
                    <a:lnB>
                      <a:noFill/>
                    </a:lnB>
                    <a:solidFill>
                      <a:srgbClr val="FFFFFF"/>
                    </a:solidFill>
                  </a:tcPr>
                </a:tc>
                <a:tc>
                  <a:txBody>
                    <a:bodyPr/>
                    <a:lstStyle/>
                    <a:p>
                      <a:pPr algn="l" fontAlgn="ctr" latinLnBrk="0"/>
                      <a:r>
                        <a:rPr lang="en-US" b="1"/>
                        <a:t>Short Form</a:t>
                      </a:r>
                    </a:p>
                  </a:txBody>
                  <a:tcPr anchor="ctr">
                    <a:lnL>
                      <a:noFill/>
                    </a:lnL>
                    <a:lnR>
                      <a:noFill/>
                    </a:lnR>
                    <a:lnT>
                      <a:noFill/>
                    </a:lnT>
                    <a:lnB>
                      <a:noFill/>
                    </a:lnB>
                    <a:solidFill>
                      <a:srgbClr val="FFFFFF"/>
                    </a:solidFill>
                  </a:tcPr>
                </a:tc>
                <a:tc>
                  <a:txBody>
                    <a:bodyPr/>
                    <a:lstStyle/>
                    <a:p>
                      <a:pPr algn="l" fontAlgn="ctr" latinLnBrk="0"/>
                      <a:r>
                        <a:rPr lang="en-US" b="1"/>
                        <a:t>Capacity</a:t>
                      </a:r>
                    </a:p>
                  </a:txBody>
                  <a:tcPr anchor="ctr">
                    <a:lnL>
                      <a:noFill/>
                    </a:lnL>
                    <a:lnR>
                      <a:noFill/>
                    </a:lnR>
                    <a:lnT>
                      <a:noFill/>
                    </a:lnT>
                    <a:lnB>
                      <a:noFill/>
                    </a:lnB>
                    <a:solidFill>
                      <a:srgbClr val="FFFFFF"/>
                    </a:solidFill>
                  </a:tcPr>
                </a:tc>
              </a:tr>
              <a:tr h="0">
                <a:tc>
                  <a:txBody>
                    <a:bodyPr/>
                    <a:lstStyle/>
                    <a:p>
                      <a:pPr algn="l" fontAlgn="t"/>
                      <a:r>
                        <a:rPr lang="en-US"/>
                        <a:t>Bit</a:t>
                      </a:r>
                    </a:p>
                  </a:txBody>
                  <a:tcPr>
                    <a:lnL>
                      <a:noFill/>
                    </a:lnL>
                    <a:lnR>
                      <a:noFill/>
                    </a:lnR>
                    <a:lnT>
                      <a:noFill/>
                    </a:lnT>
                    <a:lnB>
                      <a:noFill/>
                    </a:lnB>
                    <a:solidFill>
                      <a:srgbClr val="FFFFFF"/>
                    </a:solidFill>
                  </a:tcPr>
                </a:tc>
                <a:tc>
                  <a:txBody>
                    <a:bodyPr/>
                    <a:lstStyle/>
                    <a:p>
                      <a:pPr algn="l" fontAlgn="t"/>
                      <a:r>
                        <a:rPr lang="en-US" dirty="0"/>
                        <a:t>b</a:t>
                      </a:r>
                    </a:p>
                  </a:txBody>
                  <a:tcPr>
                    <a:lnL>
                      <a:noFill/>
                    </a:lnL>
                    <a:lnR>
                      <a:noFill/>
                    </a:lnR>
                    <a:lnT>
                      <a:noFill/>
                    </a:lnT>
                    <a:lnB>
                      <a:noFill/>
                    </a:lnB>
                    <a:solidFill>
                      <a:srgbClr val="FFFFFF"/>
                    </a:solidFill>
                  </a:tcPr>
                </a:tc>
                <a:tc>
                  <a:txBody>
                    <a:bodyPr/>
                    <a:lstStyle/>
                    <a:p>
                      <a:pPr algn="l" fontAlgn="t"/>
                      <a:r>
                        <a:rPr lang="en-US"/>
                        <a:t>1 or 0 (on or off)</a:t>
                      </a:r>
                    </a:p>
                  </a:txBody>
                  <a:tcPr>
                    <a:lnL>
                      <a:noFill/>
                    </a:lnL>
                    <a:lnR>
                      <a:noFill/>
                    </a:lnR>
                    <a:lnT>
                      <a:noFill/>
                    </a:lnT>
                    <a:lnB>
                      <a:noFill/>
                    </a:lnB>
                    <a:solidFill>
                      <a:srgbClr val="FFFFFF"/>
                    </a:solidFill>
                  </a:tcPr>
                </a:tc>
              </a:tr>
              <a:tr h="0">
                <a:tc>
                  <a:txBody>
                    <a:bodyPr/>
                    <a:lstStyle/>
                    <a:p>
                      <a:pPr algn="l" fontAlgn="t"/>
                      <a:r>
                        <a:rPr lang="en-US" dirty="0"/>
                        <a:t>Byte</a:t>
                      </a:r>
                    </a:p>
                  </a:txBody>
                  <a:tcPr>
                    <a:lnL>
                      <a:noFill/>
                    </a:lnL>
                    <a:lnR>
                      <a:noFill/>
                    </a:lnR>
                    <a:lnT>
                      <a:noFill/>
                    </a:lnT>
                    <a:lnB>
                      <a:noFill/>
                    </a:lnB>
                    <a:solidFill>
                      <a:srgbClr val="FFFFFF"/>
                    </a:solidFill>
                  </a:tcPr>
                </a:tc>
                <a:tc>
                  <a:txBody>
                    <a:bodyPr/>
                    <a:lstStyle/>
                    <a:p>
                      <a:pPr algn="l" fontAlgn="t"/>
                      <a:r>
                        <a:rPr lang="en-US"/>
                        <a:t>B</a:t>
                      </a:r>
                    </a:p>
                  </a:txBody>
                  <a:tcPr>
                    <a:lnL>
                      <a:noFill/>
                    </a:lnL>
                    <a:lnR>
                      <a:noFill/>
                    </a:lnR>
                    <a:lnT>
                      <a:noFill/>
                    </a:lnT>
                    <a:lnB>
                      <a:noFill/>
                    </a:lnB>
                    <a:solidFill>
                      <a:srgbClr val="FFFFFF"/>
                    </a:solidFill>
                  </a:tcPr>
                </a:tc>
                <a:tc>
                  <a:txBody>
                    <a:bodyPr/>
                    <a:lstStyle/>
                    <a:p>
                      <a:pPr algn="l" fontAlgn="t"/>
                      <a:r>
                        <a:rPr lang="en-US"/>
                        <a:t>8 bits</a:t>
                      </a:r>
                    </a:p>
                  </a:txBody>
                  <a:tcPr>
                    <a:lnL>
                      <a:noFill/>
                    </a:lnL>
                    <a:lnR>
                      <a:noFill/>
                    </a:lnR>
                    <a:lnT>
                      <a:noFill/>
                    </a:lnT>
                    <a:lnB>
                      <a:noFill/>
                    </a:lnB>
                    <a:solidFill>
                      <a:srgbClr val="FFFFFF"/>
                    </a:solidFill>
                  </a:tcPr>
                </a:tc>
              </a:tr>
              <a:tr h="0">
                <a:tc>
                  <a:txBody>
                    <a:bodyPr/>
                    <a:lstStyle/>
                    <a:p>
                      <a:pPr algn="l" fontAlgn="t"/>
                      <a:r>
                        <a:rPr lang="en-US" dirty="0"/>
                        <a:t>Kilobyte</a:t>
                      </a:r>
                    </a:p>
                  </a:txBody>
                  <a:tcPr>
                    <a:lnL>
                      <a:noFill/>
                    </a:lnL>
                    <a:lnR>
                      <a:noFill/>
                    </a:lnR>
                    <a:lnT>
                      <a:noFill/>
                    </a:lnT>
                    <a:lnB>
                      <a:noFill/>
                    </a:lnB>
                    <a:solidFill>
                      <a:srgbClr val="FFFFFF"/>
                    </a:solidFill>
                  </a:tcPr>
                </a:tc>
                <a:tc>
                  <a:txBody>
                    <a:bodyPr/>
                    <a:lstStyle/>
                    <a:p>
                      <a:pPr algn="l" fontAlgn="t"/>
                      <a:r>
                        <a:rPr lang="en-US"/>
                        <a:t>KB</a:t>
                      </a:r>
                    </a:p>
                  </a:txBody>
                  <a:tcPr>
                    <a:lnL>
                      <a:noFill/>
                    </a:lnL>
                    <a:lnR>
                      <a:noFill/>
                    </a:lnR>
                    <a:lnT>
                      <a:noFill/>
                    </a:lnT>
                    <a:lnB>
                      <a:noFill/>
                    </a:lnB>
                    <a:solidFill>
                      <a:srgbClr val="FFFFFF"/>
                    </a:solidFill>
                  </a:tcPr>
                </a:tc>
                <a:tc>
                  <a:txBody>
                    <a:bodyPr/>
                    <a:lstStyle/>
                    <a:p>
                      <a:pPr algn="l" fontAlgn="t"/>
                      <a:r>
                        <a:rPr lang="en-US"/>
                        <a:t>1024 bytes</a:t>
                      </a:r>
                    </a:p>
                  </a:txBody>
                  <a:tcPr>
                    <a:lnL>
                      <a:noFill/>
                    </a:lnL>
                    <a:lnR>
                      <a:noFill/>
                    </a:lnR>
                    <a:lnT>
                      <a:noFill/>
                    </a:lnT>
                    <a:lnB>
                      <a:noFill/>
                    </a:lnB>
                    <a:solidFill>
                      <a:srgbClr val="FFFFFF"/>
                    </a:solidFill>
                  </a:tcPr>
                </a:tc>
              </a:tr>
              <a:tr h="0">
                <a:tc>
                  <a:txBody>
                    <a:bodyPr/>
                    <a:lstStyle/>
                    <a:p>
                      <a:pPr algn="l" fontAlgn="t"/>
                      <a:r>
                        <a:rPr lang="en-US" dirty="0"/>
                        <a:t>Megabyte</a:t>
                      </a:r>
                    </a:p>
                  </a:txBody>
                  <a:tcPr>
                    <a:lnL>
                      <a:noFill/>
                    </a:lnL>
                    <a:lnR>
                      <a:noFill/>
                    </a:lnR>
                    <a:lnT>
                      <a:noFill/>
                    </a:lnT>
                    <a:lnB>
                      <a:noFill/>
                    </a:lnB>
                    <a:solidFill>
                      <a:srgbClr val="FFFFFF"/>
                    </a:solidFill>
                  </a:tcPr>
                </a:tc>
                <a:tc>
                  <a:txBody>
                    <a:bodyPr/>
                    <a:lstStyle/>
                    <a:p>
                      <a:pPr algn="l" fontAlgn="t"/>
                      <a:r>
                        <a:rPr lang="en-US" dirty="0"/>
                        <a:t>MB</a:t>
                      </a:r>
                    </a:p>
                  </a:txBody>
                  <a:tcPr>
                    <a:lnL>
                      <a:noFill/>
                    </a:lnL>
                    <a:lnR>
                      <a:noFill/>
                    </a:lnR>
                    <a:lnT>
                      <a:noFill/>
                    </a:lnT>
                    <a:lnB>
                      <a:noFill/>
                    </a:lnB>
                    <a:solidFill>
                      <a:srgbClr val="FFFFFF"/>
                    </a:solidFill>
                  </a:tcPr>
                </a:tc>
                <a:tc>
                  <a:txBody>
                    <a:bodyPr/>
                    <a:lstStyle/>
                    <a:p>
                      <a:pPr algn="l" fontAlgn="t"/>
                      <a:r>
                        <a:rPr lang="en-US"/>
                        <a:t>1024 kilobytes</a:t>
                      </a:r>
                    </a:p>
                  </a:txBody>
                  <a:tcPr>
                    <a:lnL>
                      <a:noFill/>
                    </a:lnL>
                    <a:lnR>
                      <a:noFill/>
                    </a:lnR>
                    <a:lnT>
                      <a:noFill/>
                    </a:lnT>
                    <a:lnB>
                      <a:noFill/>
                    </a:lnB>
                    <a:solidFill>
                      <a:srgbClr val="FFFFFF"/>
                    </a:solidFill>
                  </a:tcPr>
                </a:tc>
              </a:tr>
              <a:tr h="0">
                <a:tc>
                  <a:txBody>
                    <a:bodyPr/>
                    <a:lstStyle/>
                    <a:p>
                      <a:pPr algn="l" fontAlgn="t"/>
                      <a:r>
                        <a:rPr lang="en-US" dirty="0"/>
                        <a:t>Gigabyte</a:t>
                      </a:r>
                    </a:p>
                  </a:txBody>
                  <a:tcPr>
                    <a:lnL>
                      <a:noFill/>
                    </a:lnL>
                    <a:lnR>
                      <a:noFill/>
                    </a:lnR>
                    <a:lnT>
                      <a:noFill/>
                    </a:lnT>
                    <a:lnB>
                      <a:noFill/>
                    </a:lnB>
                    <a:solidFill>
                      <a:srgbClr val="FFFFFF"/>
                    </a:solidFill>
                  </a:tcPr>
                </a:tc>
                <a:tc>
                  <a:txBody>
                    <a:bodyPr/>
                    <a:lstStyle/>
                    <a:p>
                      <a:pPr algn="l" fontAlgn="t"/>
                      <a:r>
                        <a:rPr lang="en-US"/>
                        <a:t>GB</a:t>
                      </a:r>
                    </a:p>
                  </a:txBody>
                  <a:tcPr>
                    <a:lnL>
                      <a:noFill/>
                    </a:lnL>
                    <a:lnR>
                      <a:noFill/>
                    </a:lnR>
                    <a:lnT>
                      <a:noFill/>
                    </a:lnT>
                    <a:lnB>
                      <a:noFill/>
                    </a:lnB>
                    <a:solidFill>
                      <a:srgbClr val="FFFFFF"/>
                    </a:solidFill>
                  </a:tcPr>
                </a:tc>
                <a:tc>
                  <a:txBody>
                    <a:bodyPr/>
                    <a:lstStyle/>
                    <a:p>
                      <a:pPr algn="l" fontAlgn="t"/>
                      <a:r>
                        <a:rPr lang="en-US"/>
                        <a:t>1024 megabytes</a:t>
                      </a:r>
                    </a:p>
                  </a:txBody>
                  <a:tcPr>
                    <a:lnL>
                      <a:noFill/>
                    </a:lnL>
                    <a:lnR>
                      <a:noFill/>
                    </a:lnR>
                    <a:lnT>
                      <a:noFill/>
                    </a:lnT>
                    <a:lnB>
                      <a:noFill/>
                    </a:lnB>
                    <a:solidFill>
                      <a:srgbClr val="FFFFFF"/>
                    </a:solidFill>
                  </a:tcPr>
                </a:tc>
              </a:tr>
              <a:tr h="0">
                <a:tc>
                  <a:txBody>
                    <a:bodyPr/>
                    <a:lstStyle/>
                    <a:p>
                      <a:pPr algn="l" fontAlgn="t"/>
                      <a:r>
                        <a:rPr lang="en-US" dirty="0"/>
                        <a:t>Terabyte</a:t>
                      </a:r>
                    </a:p>
                  </a:txBody>
                  <a:tcPr>
                    <a:lnL>
                      <a:noFill/>
                    </a:lnL>
                    <a:lnR>
                      <a:noFill/>
                    </a:lnR>
                    <a:lnT>
                      <a:noFill/>
                    </a:lnT>
                    <a:lnB>
                      <a:noFill/>
                    </a:lnB>
                    <a:solidFill>
                      <a:srgbClr val="FFFFFF"/>
                    </a:solidFill>
                  </a:tcPr>
                </a:tc>
                <a:tc>
                  <a:txBody>
                    <a:bodyPr/>
                    <a:lstStyle/>
                    <a:p>
                      <a:pPr algn="l" fontAlgn="t"/>
                      <a:r>
                        <a:rPr lang="en-US"/>
                        <a:t>TB</a:t>
                      </a:r>
                    </a:p>
                  </a:txBody>
                  <a:tcPr>
                    <a:lnL>
                      <a:noFill/>
                    </a:lnL>
                    <a:lnR>
                      <a:noFill/>
                    </a:lnR>
                    <a:lnT>
                      <a:noFill/>
                    </a:lnT>
                    <a:lnB>
                      <a:noFill/>
                    </a:lnB>
                    <a:solidFill>
                      <a:srgbClr val="FFFFFF"/>
                    </a:solidFill>
                  </a:tcPr>
                </a:tc>
                <a:tc>
                  <a:txBody>
                    <a:bodyPr/>
                    <a:lstStyle/>
                    <a:p>
                      <a:pPr algn="l" fontAlgn="t"/>
                      <a:r>
                        <a:rPr lang="en-US"/>
                        <a:t>1024 gigabytes</a:t>
                      </a:r>
                    </a:p>
                  </a:txBody>
                  <a:tcPr>
                    <a:lnL>
                      <a:noFill/>
                    </a:lnL>
                    <a:lnR>
                      <a:noFill/>
                    </a:lnR>
                    <a:lnT>
                      <a:noFill/>
                    </a:lnT>
                    <a:lnB>
                      <a:noFill/>
                    </a:lnB>
                    <a:solidFill>
                      <a:srgbClr val="FFFFFF"/>
                    </a:solidFill>
                  </a:tcPr>
                </a:tc>
              </a:tr>
              <a:tr h="0">
                <a:tc>
                  <a:txBody>
                    <a:bodyPr/>
                    <a:lstStyle/>
                    <a:p>
                      <a:pPr algn="l" fontAlgn="t"/>
                      <a:r>
                        <a:rPr lang="en-US"/>
                        <a:t>Petabyte</a:t>
                      </a:r>
                    </a:p>
                  </a:txBody>
                  <a:tcPr>
                    <a:lnL>
                      <a:noFill/>
                    </a:lnL>
                    <a:lnR>
                      <a:noFill/>
                    </a:lnR>
                    <a:lnT>
                      <a:noFill/>
                    </a:lnT>
                    <a:lnB>
                      <a:noFill/>
                    </a:lnB>
                    <a:solidFill>
                      <a:srgbClr val="FFFFFF"/>
                    </a:solidFill>
                  </a:tcPr>
                </a:tc>
                <a:tc>
                  <a:txBody>
                    <a:bodyPr/>
                    <a:lstStyle/>
                    <a:p>
                      <a:pPr algn="l" fontAlgn="t"/>
                      <a:r>
                        <a:rPr lang="en-US"/>
                        <a:t>PB</a:t>
                      </a:r>
                    </a:p>
                  </a:txBody>
                  <a:tcPr>
                    <a:lnL>
                      <a:noFill/>
                    </a:lnL>
                    <a:lnR>
                      <a:noFill/>
                    </a:lnR>
                    <a:lnT>
                      <a:noFill/>
                    </a:lnT>
                    <a:lnB>
                      <a:noFill/>
                    </a:lnB>
                    <a:solidFill>
                      <a:srgbClr val="FFFFFF"/>
                    </a:solidFill>
                  </a:tcPr>
                </a:tc>
                <a:tc>
                  <a:txBody>
                    <a:bodyPr/>
                    <a:lstStyle/>
                    <a:p>
                      <a:pPr algn="l" fontAlgn="t"/>
                      <a:r>
                        <a:rPr lang="en-US"/>
                        <a:t>1024 terabytes</a:t>
                      </a:r>
                    </a:p>
                  </a:txBody>
                  <a:tcPr>
                    <a:lnL>
                      <a:noFill/>
                    </a:lnL>
                    <a:lnR>
                      <a:noFill/>
                    </a:lnR>
                    <a:lnT>
                      <a:noFill/>
                    </a:lnT>
                    <a:lnB>
                      <a:noFill/>
                    </a:lnB>
                    <a:solidFill>
                      <a:srgbClr val="FFFFFF"/>
                    </a:solidFill>
                  </a:tcPr>
                </a:tc>
              </a:tr>
              <a:tr h="0">
                <a:tc>
                  <a:txBody>
                    <a:bodyPr/>
                    <a:lstStyle/>
                    <a:p>
                      <a:pPr algn="l" fontAlgn="t"/>
                      <a:r>
                        <a:rPr lang="en-US"/>
                        <a:t>Exabyte</a:t>
                      </a:r>
                    </a:p>
                  </a:txBody>
                  <a:tcPr>
                    <a:lnL>
                      <a:noFill/>
                    </a:lnL>
                    <a:lnR>
                      <a:noFill/>
                    </a:lnR>
                    <a:lnT>
                      <a:noFill/>
                    </a:lnT>
                    <a:lnB>
                      <a:noFill/>
                    </a:lnB>
                    <a:solidFill>
                      <a:srgbClr val="FFFFFF"/>
                    </a:solidFill>
                  </a:tcPr>
                </a:tc>
                <a:tc>
                  <a:txBody>
                    <a:bodyPr/>
                    <a:lstStyle/>
                    <a:p>
                      <a:pPr algn="l" fontAlgn="t"/>
                      <a:r>
                        <a:rPr lang="en-US"/>
                        <a:t>EB</a:t>
                      </a:r>
                    </a:p>
                  </a:txBody>
                  <a:tcPr>
                    <a:lnL>
                      <a:noFill/>
                    </a:lnL>
                    <a:lnR>
                      <a:noFill/>
                    </a:lnR>
                    <a:lnT>
                      <a:noFill/>
                    </a:lnT>
                    <a:lnB>
                      <a:noFill/>
                    </a:lnB>
                    <a:solidFill>
                      <a:srgbClr val="FFFFFF"/>
                    </a:solidFill>
                  </a:tcPr>
                </a:tc>
                <a:tc>
                  <a:txBody>
                    <a:bodyPr/>
                    <a:lstStyle/>
                    <a:p>
                      <a:pPr algn="l" fontAlgn="t"/>
                      <a:r>
                        <a:rPr lang="en-US"/>
                        <a:t>1024 petabytes</a:t>
                      </a:r>
                    </a:p>
                  </a:txBody>
                  <a:tcPr>
                    <a:lnL>
                      <a:noFill/>
                    </a:lnL>
                    <a:lnR>
                      <a:noFill/>
                    </a:lnR>
                    <a:lnT>
                      <a:noFill/>
                    </a:lnT>
                    <a:lnB>
                      <a:noFill/>
                    </a:lnB>
                    <a:solidFill>
                      <a:srgbClr val="FFFFFF"/>
                    </a:solidFill>
                  </a:tcPr>
                </a:tc>
              </a:tr>
              <a:tr h="0">
                <a:tc>
                  <a:txBody>
                    <a:bodyPr/>
                    <a:lstStyle/>
                    <a:p>
                      <a:pPr algn="l" fontAlgn="t"/>
                      <a:r>
                        <a:rPr lang="en-US"/>
                        <a:t>Zettabyte</a:t>
                      </a:r>
                    </a:p>
                  </a:txBody>
                  <a:tcPr>
                    <a:lnL>
                      <a:noFill/>
                    </a:lnL>
                    <a:lnR>
                      <a:noFill/>
                    </a:lnR>
                    <a:lnT>
                      <a:noFill/>
                    </a:lnT>
                    <a:lnB>
                      <a:noFill/>
                    </a:lnB>
                    <a:solidFill>
                      <a:srgbClr val="FFFFFF"/>
                    </a:solidFill>
                  </a:tcPr>
                </a:tc>
                <a:tc>
                  <a:txBody>
                    <a:bodyPr/>
                    <a:lstStyle/>
                    <a:p>
                      <a:pPr algn="l" fontAlgn="t"/>
                      <a:r>
                        <a:rPr lang="en-US"/>
                        <a:t>ZB</a:t>
                      </a:r>
                    </a:p>
                  </a:txBody>
                  <a:tcPr>
                    <a:lnL>
                      <a:noFill/>
                    </a:lnL>
                    <a:lnR>
                      <a:noFill/>
                    </a:lnR>
                    <a:lnT>
                      <a:noFill/>
                    </a:lnT>
                    <a:lnB>
                      <a:noFill/>
                    </a:lnB>
                    <a:solidFill>
                      <a:srgbClr val="FFFFFF"/>
                    </a:solidFill>
                  </a:tcPr>
                </a:tc>
                <a:tc>
                  <a:txBody>
                    <a:bodyPr/>
                    <a:lstStyle/>
                    <a:p>
                      <a:pPr algn="l" fontAlgn="t"/>
                      <a:r>
                        <a:rPr lang="en-US"/>
                        <a:t>1024 exabytes</a:t>
                      </a:r>
                    </a:p>
                  </a:txBody>
                  <a:tcPr>
                    <a:lnL>
                      <a:noFill/>
                    </a:lnL>
                    <a:lnR>
                      <a:noFill/>
                    </a:lnR>
                    <a:lnT>
                      <a:noFill/>
                    </a:lnT>
                    <a:lnB>
                      <a:noFill/>
                    </a:lnB>
                    <a:solidFill>
                      <a:srgbClr val="FFFFFF"/>
                    </a:solidFill>
                  </a:tcPr>
                </a:tc>
              </a:tr>
              <a:tr h="0">
                <a:tc>
                  <a:txBody>
                    <a:bodyPr/>
                    <a:lstStyle/>
                    <a:p>
                      <a:pPr algn="l" fontAlgn="t"/>
                      <a:r>
                        <a:rPr lang="en-US"/>
                        <a:t>Yottabyte</a:t>
                      </a:r>
                    </a:p>
                  </a:txBody>
                  <a:tcPr>
                    <a:lnL>
                      <a:noFill/>
                    </a:lnL>
                    <a:lnR>
                      <a:noFill/>
                    </a:lnR>
                    <a:lnT>
                      <a:noFill/>
                    </a:lnT>
                    <a:lnB>
                      <a:noFill/>
                    </a:lnB>
                    <a:solidFill>
                      <a:srgbClr val="FFFFFF"/>
                    </a:solidFill>
                  </a:tcPr>
                </a:tc>
                <a:tc>
                  <a:txBody>
                    <a:bodyPr/>
                    <a:lstStyle/>
                    <a:p>
                      <a:pPr algn="l" fontAlgn="t"/>
                      <a:r>
                        <a:rPr lang="en-US"/>
                        <a:t>YB</a:t>
                      </a:r>
                    </a:p>
                  </a:txBody>
                  <a:tcPr>
                    <a:lnL>
                      <a:noFill/>
                    </a:lnL>
                    <a:lnR>
                      <a:noFill/>
                    </a:lnR>
                    <a:lnT>
                      <a:noFill/>
                    </a:lnT>
                    <a:lnB>
                      <a:noFill/>
                    </a:lnB>
                    <a:solidFill>
                      <a:srgbClr val="FFFFFF"/>
                    </a:solidFill>
                  </a:tcPr>
                </a:tc>
                <a:tc>
                  <a:txBody>
                    <a:bodyPr/>
                    <a:lstStyle/>
                    <a:p>
                      <a:pPr algn="l" fontAlgn="t"/>
                      <a:r>
                        <a:rPr lang="en-US" dirty="0"/>
                        <a:t>1024 </a:t>
                      </a:r>
                      <a:r>
                        <a:rPr lang="en-US" dirty="0" err="1"/>
                        <a:t>zettabytes</a:t>
                      </a:r>
                      <a:endParaRPr lang="en-US" dirty="0"/>
                    </a:p>
                  </a:txBody>
                  <a:tcPr>
                    <a:lnL>
                      <a:noFill/>
                    </a:lnL>
                    <a:lnR>
                      <a:noFill/>
                    </a:lnR>
                    <a:lnT>
                      <a:noFill/>
                    </a:lnT>
                    <a:lnB>
                      <a:noFill/>
                    </a:lnB>
                    <a:solidFill>
                      <a:srgbClr val="FFFFFF"/>
                    </a:solidFill>
                  </a:tcPr>
                </a:tc>
              </a:tr>
            </a:tbl>
          </a:graphicData>
        </a:graphic>
      </p:graphicFrame>
      <p:sp>
        <p:nvSpPr>
          <p:cNvPr id="22530" name="Rectangle 2"/>
          <p:cNvSpPr>
            <a:spLocks noChangeArrowheads="1"/>
          </p:cNvSpPr>
          <p:nvPr/>
        </p:nvSpPr>
        <p:spPr bwMode="auto">
          <a:xfrm>
            <a:off x="152400" y="1129843"/>
            <a:ext cx="8229600" cy="943808"/>
          </a:xfrm>
          <a:prstGeom prst="rect">
            <a:avLst/>
          </a:prstGeom>
          <a:solidFill>
            <a:srgbClr val="FFFFFF"/>
          </a:solidFill>
          <a:ln w="9525">
            <a:noFill/>
            <a:miter lim="800000"/>
            <a:headEnd/>
            <a:tailEnd/>
          </a:ln>
          <a:effectLst/>
        </p:spPr>
        <p:txBody>
          <a:bodyPr vert="horz" wrap="square" lIns="91440" tIns="0" rIns="91440" bIns="12696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900" b="1" i="0" u="none" strike="noStrike" cap="none" normalizeH="0" baseline="0" dirty="0" smtClean="0">
              <a:ln>
                <a:noFill/>
              </a:ln>
              <a:solidFill>
                <a:schemeClr val="tx1"/>
              </a:solidFill>
              <a:effectLst/>
              <a:latin typeface="-apple-system"/>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pple-system"/>
                <a:cs typeface="Arial" pitchFamily="34" charset="0"/>
              </a:rPr>
              <a:t>Data Storage Units of Measurement Table: Smallest to Largest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ize small large big data tools characteristics table"/>
          <p:cNvPicPr>
            <a:picLocks noChangeAspect="1" noChangeArrowheads="1"/>
          </p:cNvPicPr>
          <p:nvPr/>
        </p:nvPicPr>
        <p:blipFill>
          <a:blip r:embed="rId2" cstate="print"/>
          <a:srcRect/>
          <a:stretch>
            <a:fillRect/>
          </a:stretch>
        </p:blipFill>
        <p:spPr bwMode="auto">
          <a:xfrm>
            <a:off x="-152400" y="0"/>
            <a:ext cx="9855200" cy="73914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Picture 1"/>
          <p:cNvPicPr>
            <a:picLocks noChangeAspect="1" noChangeArrowheads="1"/>
          </p:cNvPicPr>
          <p:nvPr/>
        </p:nvPicPr>
        <p:blipFill>
          <a:blip r:embed="rId2" cstate="print"/>
          <a:srcRect/>
          <a:stretch>
            <a:fillRect/>
          </a:stretch>
        </p:blipFill>
        <p:spPr bwMode="auto">
          <a:xfrm>
            <a:off x="457200" y="457200"/>
            <a:ext cx="7924800" cy="54864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8153400" cy="584775"/>
          </a:xfrm>
          <a:prstGeom prst="rect">
            <a:avLst/>
          </a:prstGeom>
        </p:spPr>
        <p:txBody>
          <a:bodyPr wrap="square">
            <a:spAutoFit/>
          </a:bodyPr>
          <a:lstStyle/>
          <a:p>
            <a:r>
              <a:rPr lang="en-US" sz="3200" b="1" dirty="0" err="1" smtClean="0"/>
              <a:t>Exabytes</a:t>
            </a:r>
            <a:r>
              <a:rPr lang="en-US" sz="3200" b="1" dirty="0" smtClean="0"/>
              <a:t>, </a:t>
            </a:r>
            <a:r>
              <a:rPr lang="en-US" sz="3200" b="1" dirty="0" err="1" smtClean="0"/>
              <a:t>Zettabytes</a:t>
            </a:r>
            <a:r>
              <a:rPr lang="en-US" sz="3200" b="1" dirty="0" smtClean="0"/>
              <a:t>, and </a:t>
            </a:r>
            <a:r>
              <a:rPr lang="en-US" sz="3200" b="1" dirty="0" err="1" smtClean="0"/>
              <a:t>Yottabytes</a:t>
            </a:r>
            <a:endParaRPr lang="en-US" sz="3200" b="1" dirty="0"/>
          </a:p>
        </p:txBody>
      </p:sp>
      <p:sp>
        <p:nvSpPr>
          <p:cNvPr id="5" name="Rectangle 4"/>
          <p:cNvSpPr/>
          <p:nvPr/>
        </p:nvSpPr>
        <p:spPr>
          <a:xfrm>
            <a:off x="76200" y="533401"/>
            <a:ext cx="9067800" cy="5878532"/>
          </a:xfrm>
          <a:prstGeom prst="rect">
            <a:avLst/>
          </a:prstGeom>
        </p:spPr>
        <p:txBody>
          <a:bodyPr wrap="square">
            <a:spAutoFit/>
          </a:bodyPr>
          <a:lstStyle/>
          <a:p>
            <a:r>
              <a:rPr lang="en-US" sz="2400" dirty="0" smtClean="0"/>
              <a:t>An </a:t>
            </a:r>
            <a:r>
              <a:rPr lang="en-US" sz="2400" b="1" dirty="0" err="1" smtClean="0"/>
              <a:t>exabyte</a:t>
            </a:r>
            <a:r>
              <a:rPr lang="en-US" sz="2400" b="1" dirty="0" smtClean="0"/>
              <a:t> (EB)</a:t>
            </a:r>
            <a:r>
              <a:rPr lang="en-US" sz="2400" dirty="0" smtClean="0"/>
              <a:t> is 1,000 </a:t>
            </a:r>
            <a:r>
              <a:rPr lang="en-US" sz="2400" dirty="0" err="1" smtClean="0"/>
              <a:t>petabytes</a:t>
            </a:r>
            <a:r>
              <a:rPr lang="en-US" sz="2400" dirty="0" smtClean="0"/>
              <a:t>, or one quintillion bytes. 2004 was the first time that monthly internet traffic across the world passed 1EB. In 2017, the internet handled some 122EB of data every month. You could fit around 11 million 4K movies in an </a:t>
            </a:r>
            <a:r>
              <a:rPr lang="en-US" sz="2400" dirty="0" err="1" smtClean="0"/>
              <a:t>exabyte</a:t>
            </a:r>
            <a:r>
              <a:rPr lang="en-US" sz="2400" dirty="0" smtClean="0"/>
              <a:t> of storage.</a:t>
            </a:r>
            <a:endParaRPr lang="en-US" sz="800" dirty="0" smtClean="0"/>
          </a:p>
          <a:p>
            <a:endParaRPr lang="en-US" sz="800" dirty="0" smtClean="0"/>
          </a:p>
          <a:p>
            <a:r>
              <a:rPr lang="en-US" sz="2400" dirty="0" smtClean="0"/>
              <a:t>Next up is a </a:t>
            </a:r>
            <a:r>
              <a:rPr lang="en-US" sz="2400" b="1" dirty="0" err="1" smtClean="0"/>
              <a:t>zettabyte</a:t>
            </a:r>
            <a:r>
              <a:rPr lang="en-US" sz="2400" b="1" dirty="0" smtClean="0"/>
              <a:t> (ZB)</a:t>
            </a:r>
            <a:r>
              <a:rPr lang="en-US" sz="2400" dirty="0" smtClean="0"/>
              <a:t>, which is equivalent to 1,000 </a:t>
            </a:r>
            <a:r>
              <a:rPr lang="en-US" sz="2400" dirty="0" err="1" smtClean="0"/>
              <a:t>exabytes</a:t>
            </a:r>
            <a:r>
              <a:rPr lang="en-US" sz="2400" dirty="0" smtClean="0"/>
              <a:t> or one sextillion bytes. The International Data Corporation calculated that the global </a:t>
            </a:r>
            <a:r>
              <a:rPr lang="en-US" sz="2400" dirty="0" err="1" smtClean="0"/>
              <a:t>datasphere</a:t>
            </a:r>
            <a:r>
              <a:rPr lang="en-US" sz="2400" dirty="0" smtClean="0"/>
              <a:t> was somewhere around 33 </a:t>
            </a:r>
            <a:r>
              <a:rPr lang="en-US" sz="2400" dirty="0" err="1" smtClean="0"/>
              <a:t>zettabytes</a:t>
            </a:r>
            <a:r>
              <a:rPr lang="en-US" sz="2400" dirty="0" smtClean="0"/>
              <a:t> in 2018. As another way of looking at it, the continent of Australia is about 2.97 million square miles. If each square mile represented one terabyte, you could fit almost 337 copies of Australia into a </a:t>
            </a:r>
            <a:r>
              <a:rPr lang="en-US" sz="2400" dirty="0" err="1" smtClean="0"/>
              <a:t>zettabyte</a:t>
            </a:r>
            <a:r>
              <a:rPr lang="en-US" sz="2400" dirty="0" smtClean="0"/>
              <a:t>.</a:t>
            </a:r>
          </a:p>
          <a:p>
            <a:endParaRPr lang="en-US" sz="800" dirty="0" smtClean="0"/>
          </a:p>
          <a:p>
            <a:r>
              <a:rPr lang="en-US" sz="2400" dirty="0" smtClean="0"/>
              <a:t>The largest currently defined data size is a </a:t>
            </a:r>
            <a:r>
              <a:rPr lang="en-US" sz="2400" b="1" dirty="0" err="1" smtClean="0"/>
              <a:t>yottabyte</a:t>
            </a:r>
            <a:r>
              <a:rPr lang="en-US" sz="2400" b="1" dirty="0" smtClean="0"/>
              <a:t> (YB)</a:t>
            </a:r>
            <a:r>
              <a:rPr lang="en-US" sz="2400" dirty="0" smtClean="0"/>
              <a:t>. This staggering unit is equal to 1,000 </a:t>
            </a:r>
            <a:r>
              <a:rPr lang="en-US" sz="2400" dirty="0" err="1" smtClean="0"/>
              <a:t>zettabytes</a:t>
            </a:r>
            <a:r>
              <a:rPr lang="en-US" sz="2400" dirty="0" smtClean="0"/>
              <a:t>, or one septillion bytes. Comparisons with today's data sizes are a bit ridiculous, but it's estimated that you could fit 257.054 trillion DVDs or 288.230 quadrillion average MP3 songs in a </a:t>
            </a:r>
            <a:r>
              <a:rPr lang="en-US" sz="2400" dirty="0" err="1" smtClean="0"/>
              <a:t>yottabyte</a:t>
            </a:r>
            <a:r>
              <a:rPr lang="en-US" sz="2400" dirty="0" smtClean="0"/>
              <a:t>.</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71270" y="207080"/>
            <a:ext cx="5600700" cy="1120178"/>
          </a:xfrm>
          <a:prstGeom prst="rect">
            <a:avLst/>
          </a:prstGeom>
        </p:spPr>
        <p:txBody>
          <a:bodyPr vert="horz" wrap="square" lIns="0" tIns="12065" rIns="0" bIns="0" rtlCol="0">
            <a:spAutoFit/>
          </a:bodyPr>
          <a:lstStyle/>
          <a:p>
            <a:pPr marL="12700" algn="ctr">
              <a:lnSpc>
                <a:spcPct val="100000"/>
              </a:lnSpc>
              <a:spcBef>
                <a:spcPts val="95"/>
              </a:spcBef>
            </a:pPr>
            <a:r>
              <a:rPr lang="en-IN" sz="3600" b="1" u="sng" spc="-5" dirty="0" smtClean="0">
                <a:latin typeface="Times New Roman"/>
                <a:cs typeface="Times New Roman"/>
              </a:rPr>
              <a:t>Source of Big</a:t>
            </a:r>
            <a:r>
              <a:rPr sz="3600" b="1" u="sng" spc="10" dirty="0" smtClean="0">
                <a:latin typeface="Times New Roman"/>
                <a:cs typeface="Times New Roman"/>
              </a:rPr>
              <a:t> </a:t>
            </a:r>
            <a:r>
              <a:rPr lang="en-IN" sz="3600" b="1" u="sng" spc="-5" dirty="0" smtClean="0">
                <a:latin typeface="Times New Roman"/>
                <a:cs typeface="Times New Roman"/>
              </a:rPr>
              <a:t>D</a:t>
            </a:r>
            <a:r>
              <a:rPr sz="3600" b="1" u="sng" spc="-5" dirty="0" err="1" smtClean="0">
                <a:latin typeface="Times New Roman"/>
                <a:cs typeface="Times New Roman"/>
              </a:rPr>
              <a:t>ata</a:t>
            </a:r>
            <a:r>
              <a:rPr lang="en-IN" sz="3600" b="1" u="sng" spc="-5" dirty="0" smtClean="0">
                <a:latin typeface="Times New Roman"/>
                <a:cs typeface="Times New Roman"/>
              </a:rPr>
              <a:t>:Where does it come from?</a:t>
            </a:r>
            <a:endParaRPr sz="3600" b="1" u="sng" spc="-5" dirty="0">
              <a:latin typeface="Times New Roman"/>
              <a:cs typeface="Times New Roman"/>
            </a:endParaRPr>
          </a:p>
        </p:txBody>
      </p:sp>
      <p:sp>
        <p:nvSpPr>
          <p:cNvPr id="3" name="object 3"/>
          <p:cNvSpPr txBox="1"/>
          <p:nvPr/>
        </p:nvSpPr>
        <p:spPr>
          <a:xfrm>
            <a:off x="381000" y="1447800"/>
            <a:ext cx="8455660" cy="4992713"/>
          </a:xfrm>
          <a:prstGeom prst="rect">
            <a:avLst/>
          </a:prstGeom>
        </p:spPr>
        <p:txBody>
          <a:bodyPr vert="horz" wrap="square" lIns="0" tIns="100965" rIns="0" bIns="0" rtlCol="0">
            <a:spAutoFit/>
          </a:bodyPr>
          <a:lstStyle/>
          <a:p>
            <a:pPr marL="355600" marR="946785" indent="-342900" algn="just">
              <a:lnSpc>
                <a:spcPts val="2880"/>
              </a:lnSpc>
              <a:spcBef>
                <a:spcPts val="795"/>
              </a:spcBef>
            </a:pPr>
            <a:r>
              <a:rPr sz="2400" dirty="0">
                <a:cs typeface="Times New Roman"/>
              </a:rPr>
              <a:t>All </a:t>
            </a:r>
            <a:r>
              <a:rPr sz="2400" spc="-5" dirty="0">
                <a:cs typeface="Times New Roman"/>
              </a:rPr>
              <a:t>most </a:t>
            </a:r>
            <a:r>
              <a:rPr sz="2400" dirty="0">
                <a:cs typeface="Times New Roman"/>
              </a:rPr>
              <a:t>all </a:t>
            </a:r>
            <a:r>
              <a:rPr sz="2400" spc="-5" dirty="0">
                <a:cs typeface="Times New Roman"/>
              </a:rPr>
              <a:t>fields </a:t>
            </a:r>
            <a:r>
              <a:rPr sz="2400" dirty="0">
                <a:cs typeface="Times New Roman"/>
              </a:rPr>
              <a:t>generate big data. Some </a:t>
            </a:r>
            <a:r>
              <a:rPr sz="2400" spc="-5" dirty="0">
                <a:cs typeface="Times New Roman"/>
              </a:rPr>
              <a:t>major </a:t>
            </a:r>
            <a:r>
              <a:rPr sz="2400" spc="-735" dirty="0">
                <a:cs typeface="Times New Roman"/>
              </a:rPr>
              <a:t> </a:t>
            </a:r>
            <a:r>
              <a:rPr sz="2400" spc="-5" dirty="0">
                <a:cs typeface="Times New Roman"/>
              </a:rPr>
              <a:t>fields</a:t>
            </a:r>
            <a:r>
              <a:rPr sz="2400" spc="10" dirty="0">
                <a:cs typeface="Times New Roman"/>
              </a:rPr>
              <a:t> </a:t>
            </a:r>
            <a:r>
              <a:rPr sz="2400" dirty="0">
                <a:cs typeface="Times New Roman"/>
              </a:rPr>
              <a:t>where big</a:t>
            </a:r>
            <a:r>
              <a:rPr sz="2400" spc="-5" dirty="0">
                <a:cs typeface="Times New Roman"/>
              </a:rPr>
              <a:t> </a:t>
            </a:r>
            <a:r>
              <a:rPr sz="2400" dirty="0">
                <a:cs typeface="Times New Roman"/>
              </a:rPr>
              <a:t>data plays</a:t>
            </a:r>
            <a:r>
              <a:rPr sz="2400" spc="5" dirty="0">
                <a:cs typeface="Times New Roman"/>
              </a:rPr>
              <a:t> </a:t>
            </a:r>
            <a:r>
              <a:rPr sz="2400" dirty="0">
                <a:cs typeface="Times New Roman"/>
              </a:rPr>
              <a:t>a</a:t>
            </a:r>
            <a:r>
              <a:rPr sz="2400" spc="-5" dirty="0">
                <a:cs typeface="Times New Roman"/>
              </a:rPr>
              <a:t> </a:t>
            </a:r>
            <a:r>
              <a:rPr sz="2400" dirty="0">
                <a:cs typeface="Times New Roman"/>
              </a:rPr>
              <a:t>major</a:t>
            </a:r>
            <a:r>
              <a:rPr sz="2400" spc="10" dirty="0">
                <a:cs typeface="Times New Roman"/>
              </a:rPr>
              <a:t> </a:t>
            </a:r>
            <a:r>
              <a:rPr sz="2400" spc="-5" dirty="0">
                <a:cs typeface="Times New Roman"/>
              </a:rPr>
              <a:t>role</a:t>
            </a:r>
            <a:r>
              <a:rPr sz="2400" spc="10" dirty="0">
                <a:cs typeface="Times New Roman"/>
              </a:rPr>
              <a:t> </a:t>
            </a:r>
            <a:r>
              <a:rPr sz="2400" dirty="0">
                <a:cs typeface="Times New Roman"/>
              </a:rPr>
              <a:t>is</a:t>
            </a:r>
          </a:p>
          <a:p>
            <a:pPr marL="355600" marR="7620" indent="-342900" algn="just">
              <a:lnSpc>
                <a:spcPts val="2880"/>
              </a:lnSpc>
              <a:spcBef>
                <a:spcPts val="725"/>
              </a:spcBef>
              <a:buFont typeface="Times New Roman"/>
              <a:buAutoNum type="romanUcPeriod"/>
              <a:tabLst>
                <a:tab pos="431165" algn="l"/>
              </a:tabLst>
            </a:pPr>
            <a:r>
              <a:rPr sz="2400" b="1" spc="-5" dirty="0" smtClean="0">
                <a:cs typeface="Times New Roman"/>
              </a:rPr>
              <a:t>Social</a:t>
            </a:r>
            <a:r>
              <a:rPr sz="2400" b="1" dirty="0" smtClean="0">
                <a:cs typeface="Times New Roman"/>
              </a:rPr>
              <a:t> </a:t>
            </a:r>
            <a:r>
              <a:rPr sz="2400" b="1" spc="-5" dirty="0">
                <a:cs typeface="Times New Roman"/>
              </a:rPr>
              <a:t>networking</a:t>
            </a:r>
            <a:r>
              <a:rPr sz="2400" b="1" dirty="0">
                <a:cs typeface="Times New Roman"/>
              </a:rPr>
              <a:t> </a:t>
            </a:r>
            <a:r>
              <a:rPr sz="2400" b="1" spc="-5" dirty="0">
                <a:cs typeface="Times New Roman"/>
              </a:rPr>
              <a:t>sites:</a:t>
            </a:r>
            <a:r>
              <a:rPr sz="2400" b="1" dirty="0">
                <a:cs typeface="Times New Roman"/>
              </a:rPr>
              <a:t> </a:t>
            </a:r>
            <a:r>
              <a:rPr sz="2400" spc="-5" dirty="0">
                <a:cs typeface="Times New Roman"/>
              </a:rPr>
              <a:t>social</a:t>
            </a:r>
            <a:r>
              <a:rPr sz="2400" dirty="0">
                <a:cs typeface="Times New Roman"/>
              </a:rPr>
              <a:t> media</a:t>
            </a:r>
            <a:r>
              <a:rPr sz="2400" spc="5" dirty="0">
                <a:cs typeface="Times New Roman"/>
              </a:rPr>
              <a:t> </a:t>
            </a:r>
            <a:r>
              <a:rPr sz="2400" dirty="0">
                <a:cs typeface="Times New Roman"/>
              </a:rPr>
              <a:t>that</a:t>
            </a:r>
            <a:r>
              <a:rPr sz="2400" spc="5" dirty="0">
                <a:cs typeface="Times New Roman"/>
              </a:rPr>
              <a:t> </a:t>
            </a:r>
            <a:r>
              <a:rPr sz="2400" dirty="0">
                <a:cs typeface="Times New Roman"/>
              </a:rPr>
              <a:t>carry </a:t>
            </a:r>
            <a:r>
              <a:rPr sz="2400" spc="-735" dirty="0">
                <a:cs typeface="Times New Roman"/>
              </a:rPr>
              <a:t> </a:t>
            </a:r>
            <a:r>
              <a:rPr sz="2400" dirty="0">
                <a:cs typeface="Times New Roman"/>
              </a:rPr>
              <a:t>information,</a:t>
            </a:r>
            <a:r>
              <a:rPr sz="2400" spc="5" dirty="0">
                <a:cs typeface="Times New Roman"/>
              </a:rPr>
              <a:t> </a:t>
            </a:r>
            <a:r>
              <a:rPr sz="2400" spc="-5" dirty="0">
                <a:cs typeface="Times New Roman"/>
              </a:rPr>
              <a:t>posts,</a:t>
            </a:r>
            <a:r>
              <a:rPr sz="2400" dirty="0">
                <a:cs typeface="Times New Roman"/>
              </a:rPr>
              <a:t> </a:t>
            </a:r>
            <a:r>
              <a:rPr sz="2400" spc="-5" dirty="0">
                <a:cs typeface="Times New Roman"/>
              </a:rPr>
              <a:t>links</a:t>
            </a:r>
            <a:r>
              <a:rPr sz="2400" dirty="0">
                <a:cs typeface="Times New Roman"/>
              </a:rPr>
              <a:t> etc</a:t>
            </a:r>
            <a:r>
              <a:rPr sz="2400" spc="5" dirty="0">
                <a:cs typeface="Times New Roman"/>
              </a:rPr>
              <a:t> </a:t>
            </a:r>
            <a:r>
              <a:rPr sz="2400" dirty="0">
                <a:cs typeface="Times New Roman"/>
              </a:rPr>
              <a:t>of</a:t>
            </a:r>
            <a:r>
              <a:rPr sz="2400" spc="5" dirty="0">
                <a:cs typeface="Times New Roman"/>
              </a:rPr>
              <a:t> </a:t>
            </a:r>
            <a:r>
              <a:rPr sz="2400" spc="-5" dirty="0">
                <a:cs typeface="Times New Roman"/>
              </a:rPr>
              <a:t>different</a:t>
            </a:r>
            <a:r>
              <a:rPr sz="2400" spc="740" dirty="0">
                <a:cs typeface="Times New Roman"/>
              </a:rPr>
              <a:t> </a:t>
            </a:r>
            <a:r>
              <a:rPr sz="2400" dirty="0">
                <a:cs typeface="Times New Roman"/>
              </a:rPr>
              <a:t>peoples </a:t>
            </a:r>
            <a:r>
              <a:rPr sz="2400" spc="5" dirty="0">
                <a:cs typeface="Times New Roman"/>
              </a:rPr>
              <a:t> </a:t>
            </a:r>
            <a:r>
              <a:rPr sz="2400" dirty="0">
                <a:cs typeface="Times New Roman"/>
              </a:rPr>
              <a:t>from all over</a:t>
            </a:r>
            <a:r>
              <a:rPr sz="2400" spc="15" dirty="0">
                <a:cs typeface="Times New Roman"/>
              </a:rPr>
              <a:t> </a:t>
            </a:r>
            <a:r>
              <a:rPr sz="2400" dirty="0">
                <a:cs typeface="Times New Roman"/>
              </a:rPr>
              <a:t>world</a:t>
            </a:r>
            <a:r>
              <a:rPr sz="2400" spc="-5" dirty="0">
                <a:cs typeface="Times New Roman"/>
              </a:rPr>
              <a:t> like</a:t>
            </a:r>
            <a:r>
              <a:rPr sz="2400" spc="15" dirty="0">
                <a:cs typeface="Times New Roman"/>
              </a:rPr>
              <a:t> </a:t>
            </a:r>
            <a:r>
              <a:rPr sz="2400" dirty="0">
                <a:cs typeface="Times New Roman"/>
              </a:rPr>
              <a:t>Facebook</a:t>
            </a:r>
            <a:r>
              <a:rPr sz="2400" spc="20" dirty="0">
                <a:cs typeface="Times New Roman"/>
              </a:rPr>
              <a:t> </a:t>
            </a:r>
            <a:r>
              <a:rPr sz="2400" spc="-5" dirty="0">
                <a:cs typeface="Times New Roman"/>
              </a:rPr>
              <a:t>twitter</a:t>
            </a:r>
            <a:r>
              <a:rPr sz="2400" spc="15" dirty="0">
                <a:cs typeface="Times New Roman"/>
              </a:rPr>
              <a:t> </a:t>
            </a:r>
            <a:r>
              <a:rPr sz="2400" spc="-5" dirty="0">
                <a:cs typeface="Times New Roman"/>
              </a:rPr>
              <a:t>etc.</a:t>
            </a:r>
            <a:endParaRPr sz="2400" dirty="0">
              <a:cs typeface="Times New Roman"/>
            </a:endParaRPr>
          </a:p>
          <a:p>
            <a:pPr marL="355600" marR="5080" indent="-342900" algn="just">
              <a:lnSpc>
                <a:spcPts val="2880"/>
              </a:lnSpc>
              <a:spcBef>
                <a:spcPts val="720"/>
              </a:spcBef>
              <a:buFont typeface="Times New Roman"/>
              <a:buAutoNum type="romanUcPeriod"/>
              <a:tabLst>
                <a:tab pos="631825" algn="l"/>
              </a:tabLst>
            </a:pPr>
            <a:r>
              <a:rPr sz="2400" b="1" spc="-10" dirty="0">
                <a:cs typeface="Times New Roman"/>
              </a:rPr>
              <a:t>Search</a:t>
            </a:r>
            <a:r>
              <a:rPr sz="2400" b="1" spc="-5" dirty="0">
                <a:cs typeface="Times New Roman"/>
              </a:rPr>
              <a:t> engines:</a:t>
            </a:r>
            <a:r>
              <a:rPr sz="2400" b="1" dirty="0">
                <a:cs typeface="Times New Roman"/>
              </a:rPr>
              <a:t> </a:t>
            </a:r>
            <a:r>
              <a:rPr sz="2400" dirty="0">
                <a:cs typeface="Times New Roman"/>
              </a:rPr>
              <a:t>there</a:t>
            </a:r>
            <a:r>
              <a:rPr sz="2400" spc="5" dirty="0">
                <a:cs typeface="Times New Roman"/>
              </a:rPr>
              <a:t> </a:t>
            </a:r>
            <a:r>
              <a:rPr sz="2400" dirty="0">
                <a:cs typeface="Times New Roman"/>
              </a:rPr>
              <a:t>are</a:t>
            </a:r>
            <a:r>
              <a:rPr sz="2400" spc="5" dirty="0">
                <a:cs typeface="Times New Roman"/>
              </a:rPr>
              <a:t> </a:t>
            </a:r>
            <a:r>
              <a:rPr sz="2400" dirty="0">
                <a:cs typeface="Times New Roman"/>
              </a:rPr>
              <a:t>lots</a:t>
            </a:r>
            <a:r>
              <a:rPr sz="2400" spc="5" dirty="0">
                <a:cs typeface="Times New Roman"/>
              </a:rPr>
              <a:t> </a:t>
            </a:r>
            <a:r>
              <a:rPr sz="2400" spc="-5" dirty="0">
                <a:cs typeface="Times New Roman"/>
              </a:rPr>
              <a:t>of</a:t>
            </a:r>
            <a:r>
              <a:rPr sz="2400" dirty="0">
                <a:cs typeface="Times New Roman"/>
              </a:rPr>
              <a:t> data</a:t>
            </a:r>
            <a:r>
              <a:rPr sz="2400" spc="5" dirty="0">
                <a:cs typeface="Times New Roman"/>
              </a:rPr>
              <a:t> </a:t>
            </a:r>
            <a:r>
              <a:rPr sz="2400" dirty="0">
                <a:cs typeface="Times New Roman"/>
              </a:rPr>
              <a:t>from </a:t>
            </a:r>
            <a:r>
              <a:rPr sz="2400" spc="5" dirty="0">
                <a:cs typeface="Times New Roman"/>
              </a:rPr>
              <a:t> </a:t>
            </a:r>
            <a:r>
              <a:rPr sz="2400" spc="-10" dirty="0">
                <a:cs typeface="Times New Roman"/>
              </a:rPr>
              <a:t>different</a:t>
            </a:r>
            <a:r>
              <a:rPr sz="2400" spc="15" dirty="0">
                <a:cs typeface="Times New Roman"/>
              </a:rPr>
              <a:t> </a:t>
            </a:r>
            <a:r>
              <a:rPr sz="2400" dirty="0">
                <a:cs typeface="Times New Roman"/>
              </a:rPr>
              <a:t>databases</a:t>
            </a:r>
            <a:r>
              <a:rPr sz="2400" spc="20" dirty="0">
                <a:cs typeface="Times New Roman"/>
              </a:rPr>
              <a:t> </a:t>
            </a:r>
            <a:r>
              <a:rPr sz="2400" dirty="0">
                <a:cs typeface="Times New Roman"/>
              </a:rPr>
              <a:t>that</a:t>
            </a:r>
            <a:r>
              <a:rPr sz="2400" spc="15" dirty="0">
                <a:cs typeface="Times New Roman"/>
              </a:rPr>
              <a:t> </a:t>
            </a:r>
            <a:r>
              <a:rPr sz="2400" spc="-5" dirty="0">
                <a:cs typeface="Times New Roman"/>
              </a:rPr>
              <a:t>retrieve</a:t>
            </a:r>
            <a:r>
              <a:rPr sz="2400" spc="40" dirty="0">
                <a:cs typeface="Times New Roman"/>
              </a:rPr>
              <a:t> </a:t>
            </a:r>
            <a:r>
              <a:rPr sz="2400" dirty="0">
                <a:cs typeface="Times New Roman"/>
              </a:rPr>
              <a:t>from</a:t>
            </a:r>
            <a:r>
              <a:rPr sz="2400" spc="5" dirty="0">
                <a:cs typeface="Times New Roman"/>
              </a:rPr>
              <a:t> </a:t>
            </a:r>
            <a:r>
              <a:rPr sz="2400" dirty="0">
                <a:cs typeface="Times New Roman"/>
              </a:rPr>
              <a:t>search</a:t>
            </a:r>
            <a:r>
              <a:rPr sz="2400" spc="5" dirty="0">
                <a:cs typeface="Times New Roman"/>
              </a:rPr>
              <a:t> </a:t>
            </a:r>
            <a:r>
              <a:rPr sz="2400" spc="-5" dirty="0">
                <a:cs typeface="Times New Roman"/>
              </a:rPr>
              <a:t>engines.</a:t>
            </a:r>
            <a:endParaRPr sz="2400" dirty="0">
              <a:cs typeface="Times New Roman"/>
            </a:endParaRPr>
          </a:p>
          <a:p>
            <a:pPr marL="355600" marR="6350" indent="-342900" algn="just">
              <a:lnSpc>
                <a:spcPts val="2880"/>
              </a:lnSpc>
              <a:spcBef>
                <a:spcPts val="720"/>
              </a:spcBef>
              <a:buFont typeface="Times New Roman"/>
              <a:buAutoNum type="romanUcPeriod"/>
              <a:tabLst>
                <a:tab pos="633730" algn="l"/>
              </a:tabLst>
            </a:pPr>
            <a:r>
              <a:rPr sz="2400" b="1" dirty="0">
                <a:cs typeface="Times New Roman"/>
              </a:rPr>
              <a:t>Medical </a:t>
            </a:r>
            <a:r>
              <a:rPr sz="2400" b="1" spc="-5" dirty="0">
                <a:cs typeface="Times New Roman"/>
              </a:rPr>
              <a:t>history </a:t>
            </a:r>
            <a:r>
              <a:rPr sz="2400" b="1" dirty="0">
                <a:cs typeface="Times New Roman"/>
              </a:rPr>
              <a:t>: </a:t>
            </a:r>
            <a:r>
              <a:rPr sz="2400" dirty="0">
                <a:cs typeface="Times New Roman"/>
              </a:rPr>
              <a:t>medical history of </a:t>
            </a:r>
            <a:r>
              <a:rPr sz="2400" spc="-5" dirty="0">
                <a:cs typeface="Times New Roman"/>
              </a:rPr>
              <a:t>patients </a:t>
            </a:r>
            <a:r>
              <a:rPr sz="2400" dirty="0">
                <a:cs typeface="Times New Roman"/>
              </a:rPr>
              <a:t>for </a:t>
            </a:r>
            <a:r>
              <a:rPr sz="2400" spc="5" dirty="0">
                <a:cs typeface="Times New Roman"/>
              </a:rPr>
              <a:t> </a:t>
            </a:r>
            <a:r>
              <a:rPr sz="2400" spc="-5" dirty="0">
                <a:cs typeface="Times New Roman"/>
              </a:rPr>
              <a:t>various</a:t>
            </a:r>
            <a:r>
              <a:rPr sz="2400" spc="10" dirty="0">
                <a:cs typeface="Times New Roman"/>
              </a:rPr>
              <a:t> </a:t>
            </a:r>
            <a:r>
              <a:rPr sz="2400" spc="-5" dirty="0">
                <a:cs typeface="Times New Roman"/>
              </a:rPr>
              <a:t>health</a:t>
            </a:r>
            <a:r>
              <a:rPr sz="2400" spc="20" dirty="0">
                <a:cs typeface="Times New Roman"/>
              </a:rPr>
              <a:t> </a:t>
            </a:r>
            <a:r>
              <a:rPr sz="2400" spc="-5" dirty="0">
                <a:cs typeface="Times New Roman"/>
              </a:rPr>
              <a:t>issues </a:t>
            </a:r>
            <a:r>
              <a:rPr sz="2400" dirty="0">
                <a:cs typeface="Times New Roman"/>
              </a:rPr>
              <a:t>from </a:t>
            </a:r>
            <a:r>
              <a:rPr sz="2400" spc="-5" dirty="0">
                <a:cs typeface="Times New Roman"/>
              </a:rPr>
              <a:t>hospitals</a:t>
            </a:r>
            <a:endParaRPr sz="2400" dirty="0">
              <a:cs typeface="Times New Roman"/>
            </a:endParaRPr>
          </a:p>
          <a:p>
            <a:pPr marL="355600" marR="6350" indent="-342900" algn="just">
              <a:lnSpc>
                <a:spcPts val="2880"/>
              </a:lnSpc>
              <a:spcBef>
                <a:spcPts val="725"/>
              </a:spcBef>
              <a:buFont typeface="Times New Roman"/>
              <a:buAutoNum type="romanUcPeriod"/>
              <a:tabLst>
                <a:tab pos="622935" algn="l"/>
              </a:tabLst>
            </a:pPr>
            <a:r>
              <a:rPr sz="2400" b="1" spc="-5" dirty="0">
                <a:cs typeface="Times New Roman"/>
              </a:rPr>
              <a:t>Online shopping: </a:t>
            </a:r>
            <a:r>
              <a:rPr sz="2400" dirty="0">
                <a:cs typeface="Times New Roman"/>
              </a:rPr>
              <a:t>shopping online help to know </a:t>
            </a:r>
            <a:r>
              <a:rPr sz="2400" spc="5" dirty="0">
                <a:cs typeface="Times New Roman"/>
              </a:rPr>
              <a:t> </a:t>
            </a:r>
            <a:r>
              <a:rPr sz="2400" dirty="0">
                <a:cs typeface="Times New Roman"/>
              </a:rPr>
              <a:t>the</a:t>
            </a:r>
            <a:r>
              <a:rPr sz="2400" spc="5" dirty="0">
                <a:cs typeface="Times New Roman"/>
              </a:rPr>
              <a:t> </a:t>
            </a:r>
            <a:r>
              <a:rPr sz="2400" dirty="0">
                <a:cs typeface="Times New Roman"/>
              </a:rPr>
              <a:t>preferences</a:t>
            </a:r>
            <a:r>
              <a:rPr sz="2400" spc="20" dirty="0">
                <a:cs typeface="Times New Roman"/>
              </a:rPr>
              <a:t> </a:t>
            </a:r>
            <a:r>
              <a:rPr sz="2400" dirty="0">
                <a:cs typeface="Times New Roman"/>
              </a:rPr>
              <a:t>of </a:t>
            </a:r>
            <a:r>
              <a:rPr sz="2400" spc="-5" dirty="0">
                <a:cs typeface="Times New Roman"/>
              </a:rPr>
              <a:t>customers</a:t>
            </a:r>
            <a:r>
              <a:rPr sz="2400" spc="25" dirty="0">
                <a:cs typeface="Times New Roman"/>
              </a:rPr>
              <a:t> </a:t>
            </a:r>
            <a:r>
              <a:rPr sz="2400" dirty="0">
                <a:cs typeface="Times New Roman"/>
              </a:rPr>
              <a:t>on</a:t>
            </a:r>
            <a:r>
              <a:rPr sz="2400" spc="5" dirty="0">
                <a:cs typeface="Times New Roman"/>
              </a:rPr>
              <a:t> </a:t>
            </a:r>
            <a:r>
              <a:rPr sz="2400" spc="-10" dirty="0">
                <a:cs typeface="Times New Roman"/>
              </a:rPr>
              <a:t>different</a:t>
            </a:r>
            <a:r>
              <a:rPr sz="2400" spc="20" dirty="0">
                <a:cs typeface="Times New Roman"/>
              </a:rPr>
              <a:t> </a:t>
            </a:r>
            <a:r>
              <a:rPr sz="2400" spc="-5" dirty="0">
                <a:cs typeface="Times New Roman"/>
              </a:rPr>
              <a:t>products.</a:t>
            </a:r>
            <a:endParaRPr sz="2400" dirty="0">
              <a:cs typeface="Times New Roman"/>
            </a:endParaRPr>
          </a:p>
          <a:p>
            <a:pPr marL="354965" marR="8890" indent="-342900" algn="just">
              <a:lnSpc>
                <a:spcPts val="2880"/>
              </a:lnSpc>
              <a:spcBef>
                <a:spcPts val="715"/>
              </a:spcBef>
              <a:buFont typeface="Times New Roman"/>
              <a:buAutoNum type="romanUcPeriod"/>
              <a:tabLst>
                <a:tab pos="432434" algn="l"/>
              </a:tabLst>
            </a:pPr>
            <a:r>
              <a:rPr sz="2400" b="1" dirty="0">
                <a:cs typeface="Times New Roman"/>
              </a:rPr>
              <a:t>Stock exchange: </a:t>
            </a:r>
            <a:r>
              <a:rPr sz="2400" dirty="0">
                <a:cs typeface="Times New Roman"/>
              </a:rPr>
              <a:t>shares of </a:t>
            </a:r>
            <a:r>
              <a:rPr sz="2400" spc="-5" dirty="0">
                <a:cs typeface="Times New Roman"/>
              </a:rPr>
              <a:t>different </a:t>
            </a:r>
            <a:r>
              <a:rPr sz="2400" dirty="0">
                <a:cs typeface="Times New Roman"/>
              </a:rPr>
              <a:t>companies hold </a:t>
            </a:r>
            <a:r>
              <a:rPr sz="2400" spc="-735" dirty="0">
                <a:cs typeface="Times New Roman"/>
              </a:rPr>
              <a:t> </a:t>
            </a:r>
            <a:r>
              <a:rPr sz="2400" spc="-5" dirty="0">
                <a:cs typeface="Times New Roman"/>
              </a:rPr>
              <a:t>by</a:t>
            </a:r>
            <a:r>
              <a:rPr sz="2400" spc="-10" dirty="0">
                <a:cs typeface="Times New Roman"/>
              </a:rPr>
              <a:t> </a:t>
            </a:r>
            <a:r>
              <a:rPr sz="2400" spc="-5" dirty="0">
                <a:cs typeface="Times New Roman"/>
              </a:rPr>
              <a:t>stock</a:t>
            </a:r>
            <a:endParaRPr sz="2400" dirty="0">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0"/>
            <a:ext cx="8686800" cy="2308324"/>
          </a:xfrm>
          <a:prstGeom prst="rect">
            <a:avLst/>
          </a:prstGeom>
        </p:spPr>
        <p:txBody>
          <a:bodyPr wrap="square">
            <a:spAutoFit/>
          </a:bodyPr>
          <a:lstStyle/>
          <a:p>
            <a:r>
              <a:rPr lang="en-US" sz="2400" b="1" dirty="0" smtClean="0"/>
              <a:t>The Primary Sources of Big Data:</a:t>
            </a:r>
          </a:p>
          <a:p>
            <a:r>
              <a:rPr lang="en-US" sz="2400" dirty="0" smtClean="0"/>
              <a:t>A significant part of big data is generated from three primary resources: </a:t>
            </a:r>
          </a:p>
          <a:p>
            <a:pPr>
              <a:buFont typeface="Courier New" pitchFamily="49" charset="0"/>
              <a:buChar char="o"/>
            </a:pPr>
            <a:r>
              <a:rPr lang="en-US" sz="2400" dirty="0" smtClean="0"/>
              <a:t>Machine data</a:t>
            </a:r>
          </a:p>
          <a:p>
            <a:pPr>
              <a:buFont typeface="Courier New" pitchFamily="49" charset="0"/>
              <a:buChar char="o"/>
            </a:pPr>
            <a:r>
              <a:rPr lang="en-US" sz="2400" dirty="0" smtClean="0"/>
              <a:t>Social data, and</a:t>
            </a:r>
          </a:p>
          <a:p>
            <a:pPr>
              <a:buFont typeface="Courier New" pitchFamily="49" charset="0"/>
              <a:buChar char="o"/>
            </a:pPr>
            <a:r>
              <a:rPr lang="en-US" sz="2400" dirty="0" smtClean="0"/>
              <a:t>Transactional data. </a:t>
            </a:r>
            <a:endParaRPr lang="en-US" sz="2400" dirty="0"/>
          </a:p>
        </p:txBody>
      </p:sp>
      <p:sp>
        <p:nvSpPr>
          <p:cNvPr id="5" name="Rectangle 4"/>
          <p:cNvSpPr/>
          <p:nvPr/>
        </p:nvSpPr>
        <p:spPr>
          <a:xfrm>
            <a:off x="152400" y="2286000"/>
            <a:ext cx="8991600" cy="4154984"/>
          </a:xfrm>
          <a:prstGeom prst="rect">
            <a:avLst/>
          </a:prstGeom>
        </p:spPr>
        <p:txBody>
          <a:bodyPr wrap="square">
            <a:spAutoFit/>
          </a:bodyPr>
          <a:lstStyle/>
          <a:p>
            <a:r>
              <a:rPr lang="en-US" sz="2400" b="1" dirty="0" smtClean="0"/>
              <a:t>1. Machine Data </a:t>
            </a:r>
            <a:endParaRPr lang="en-US" sz="2400" dirty="0" smtClean="0"/>
          </a:p>
          <a:p>
            <a:r>
              <a:rPr lang="en-US" sz="2400" dirty="0" smtClean="0"/>
              <a:t>Machine data is automatically generated, either as a response to a specific event or a fixed schedule. </a:t>
            </a:r>
          </a:p>
          <a:p>
            <a:r>
              <a:rPr lang="en-US" sz="2400" dirty="0" smtClean="0"/>
              <a:t> smart sensors, SIEM logs, medical devices and </a:t>
            </a:r>
            <a:r>
              <a:rPr lang="en-US" sz="2400" dirty="0" err="1" smtClean="0"/>
              <a:t>wearables</a:t>
            </a:r>
            <a:r>
              <a:rPr lang="en-US" sz="2400" dirty="0" smtClean="0"/>
              <a:t>, road cameras, </a:t>
            </a:r>
            <a:r>
              <a:rPr lang="en-US" sz="2400" dirty="0" err="1" smtClean="0"/>
              <a:t>IoT</a:t>
            </a:r>
            <a:r>
              <a:rPr lang="en-US" sz="2400" dirty="0" smtClean="0"/>
              <a:t> devices, satellites, desktops, mobile phones, industrial machinery, etc. </a:t>
            </a:r>
          </a:p>
          <a:p>
            <a:r>
              <a:rPr lang="en-US" sz="2400" b="1" dirty="0" smtClean="0"/>
              <a:t>2. Social Data </a:t>
            </a:r>
            <a:endParaRPr lang="en-US" sz="2400" dirty="0" smtClean="0"/>
          </a:p>
          <a:p>
            <a:r>
              <a:rPr lang="en-US" sz="2400" dirty="0" smtClean="0"/>
              <a:t>It is derived from social media platforms through tweets, </a:t>
            </a:r>
            <a:r>
              <a:rPr lang="en-US" sz="2400" dirty="0" err="1" smtClean="0"/>
              <a:t>retweets</a:t>
            </a:r>
            <a:r>
              <a:rPr lang="en-US" sz="2400" dirty="0" smtClean="0"/>
              <a:t>, likes, video uploads, and comments shared on </a:t>
            </a:r>
            <a:r>
              <a:rPr lang="en-US" sz="2400" dirty="0" err="1" smtClean="0"/>
              <a:t>Facebook</a:t>
            </a:r>
            <a:r>
              <a:rPr lang="en-US" sz="2400" dirty="0" smtClean="0"/>
              <a:t>, </a:t>
            </a:r>
            <a:r>
              <a:rPr lang="en-US" sz="2400" dirty="0" err="1" smtClean="0"/>
              <a:t>Instagram</a:t>
            </a:r>
            <a:r>
              <a:rPr lang="en-US" sz="2400" dirty="0" smtClean="0"/>
              <a:t>, Twitter, YouTube, Linked In etc.</a:t>
            </a:r>
          </a:p>
          <a:p>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228600"/>
            <a:ext cx="8839200" cy="4893647"/>
          </a:xfrm>
          <a:prstGeom prst="rect">
            <a:avLst/>
          </a:prstGeom>
        </p:spPr>
        <p:txBody>
          <a:bodyPr wrap="square">
            <a:spAutoFit/>
          </a:bodyPr>
          <a:lstStyle/>
          <a:p>
            <a:r>
              <a:rPr lang="en-US" sz="2400" b="1" dirty="0" smtClean="0"/>
              <a:t>3. Transactional Data </a:t>
            </a:r>
            <a:endParaRPr lang="en-US" sz="2400" dirty="0" smtClean="0"/>
          </a:p>
          <a:p>
            <a:r>
              <a:rPr lang="en-US" sz="2400" dirty="0" smtClean="0"/>
              <a:t>As the name suggests, transactional data is information gathered via online and offline transactions during different points of sale. The data includes vital details like transaction time, location, products purchased, product prices, payment methods, discounts/coupons used, and other relevant quantifiable information related to transactions. </a:t>
            </a:r>
          </a:p>
          <a:p>
            <a:r>
              <a:rPr lang="en-US" sz="2400" b="1" dirty="0" smtClean="0"/>
              <a:t>The sources of transactional data include:</a:t>
            </a:r>
            <a:endParaRPr lang="en-US" sz="2400" dirty="0" smtClean="0"/>
          </a:p>
          <a:p>
            <a:r>
              <a:rPr lang="en-US" sz="2400" dirty="0" smtClean="0"/>
              <a:t>Payment orders</a:t>
            </a:r>
          </a:p>
          <a:p>
            <a:r>
              <a:rPr lang="en-US" sz="2400" dirty="0" smtClean="0"/>
              <a:t>Invoices</a:t>
            </a:r>
          </a:p>
          <a:p>
            <a:r>
              <a:rPr lang="en-US" sz="2400" dirty="0" smtClean="0"/>
              <a:t>Storage records and</a:t>
            </a:r>
          </a:p>
          <a:p>
            <a:r>
              <a:rPr lang="en-US" sz="2400" dirty="0" smtClean="0"/>
              <a:t>E-receipts</a:t>
            </a:r>
          </a:p>
          <a:p>
            <a:r>
              <a:rPr lang="en-US" sz="2400" dirty="0" smtClean="0"/>
              <a:t>Transactional data is a key source of business intelligence.</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5" name="Picture 3" descr="Internal and external big data sources"/>
          <p:cNvPicPr>
            <a:picLocks noChangeAspect="1" noChangeArrowheads="1"/>
          </p:cNvPicPr>
          <p:nvPr/>
        </p:nvPicPr>
        <p:blipFill>
          <a:blip r:embed="rId2" cstate="print"/>
          <a:srcRect/>
          <a:stretch>
            <a:fillRect/>
          </a:stretch>
        </p:blipFill>
        <p:spPr bwMode="auto">
          <a:xfrm>
            <a:off x="304800" y="2667000"/>
            <a:ext cx="8382000" cy="4038601"/>
          </a:xfrm>
          <a:prstGeom prst="rect">
            <a:avLst/>
          </a:prstGeom>
          <a:noFill/>
        </p:spPr>
      </p:pic>
      <p:sp>
        <p:nvSpPr>
          <p:cNvPr id="6" name="Rectangle 5"/>
          <p:cNvSpPr/>
          <p:nvPr/>
        </p:nvSpPr>
        <p:spPr>
          <a:xfrm>
            <a:off x="152400" y="228600"/>
            <a:ext cx="8839200" cy="2369880"/>
          </a:xfrm>
          <a:prstGeom prst="rect">
            <a:avLst/>
          </a:prstGeom>
        </p:spPr>
        <p:txBody>
          <a:bodyPr wrap="square">
            <a:spAutoFit/>
          </a:bodyPr>
          <a:lstStyle/>
          <a:p>
            <a:pPr lvl="0" fontAlgn="base">
              <a:spcBef>
                <a:spcPct val="0"/>
              </a:spcBef>
              <a:spcAft>
                <a:spcPct val="0"/>
              </a:spcAft>
            </a:pPr>
            <a:r>
              <a:rPr lang="en-US" sz="2800" b="1" dirty="0" smtClean="0">
                <a:solidFill>
                  <a:srgbClr val="004484"/>
                </a:solidFill>
                <a:cs typeface="Arial" pitchFamily="34" charset="0"/>
              </a:rPr>
              <a:t>Big data sources: internal and external</a:t>
            </a:r>
            <a:r>
              <a:rPr lang="en-US" dirty="0" smtClean="0">
                <a:solidFill>
                  <a:srgbClr val="004484"/>
                </a:solidFill>
                <a:cs typeface="Arial" pitchFamily="34" charset="0"/>
              </a:rPr>
              <a:t> </a:t>
            </a:r>
          </a:p>
          <a:p>
            <a:pPr lvl="0" eaLnBrk="0" fontAlgn="base" hangingPunct="0">
              <a:spcBef>
                <a:spcPct val="0"/>
              </a:spcBef>
              <a:spcAft>
                <a:spcPct val="0"/>
              </a:spcAft>
            </a:pPr>
            <a:r>
              <a:rPr lang="en-US" sz="2400" dirty="0" smtClean="0">
                <a:solidFill>
                  <a:srgbClr val="3B3C3D"/>
                </a:solidFill>
                <a:cs typeface="Arial" pitchFamily="34" charset="0"/>
              </a:rPr>
              <a:t>There are two types of big data sources: internal and external ones. Data is </a:t>
            </a:r>
            <a:r>
              <a:rPr lang="en-US" sz="2400" b="1" i="1" dirty="0" smtClean="0">
                <a:solidFill>
                  <a:srgbClr val="3B3C3D"/>
                </a:solidFill>
                <a:cs typeface="Arial" pitchFamily="34" charset="0"/>
              </a:rPr>
              <a:t>internal</a:t>
            </a:r>
            <a:r>
              <a:rPr lang="en-US" sz="2400" dirty="0" smtClean="0">
                <a:solidFill>
                  <a:srgbClr val="3B3C3D"/>
                </a:solidFill>
                <a:cs typeface="Arial" pitchFamily="34" charset="0"/>
              </a:rPr>
              <a:t> if a company generates, owns and controls it. </a:t>
            </a:r>
            <a:r>
              <a:rPr lang="en-US" sz="2400" b="1" i="1" dirty="0" smtClean="0">
                <a:solidFill>
                  <a:srgbClr val="3B3C3D"/>
                </a:solidFill>
                <a:cs typeface="Arial" pitchFamily="34" charset="0"/>
              </a:rPr>
              <a:t>External</a:t>
            </a:r>
            <a:r>
              <a:rPr lang="en-US" sz="2400" dirty="0" smtClean="0">
                <a:solidFill>
                  <a:srgbClr val="3B3C3D"/>
                </a:solidFill>
                <a:cs typeface="Arial" pitchFamily="34" charset="0"/>
              </a:rPr>
              <a:t> data is public data or the data generated outside the company; correspondingly, the company neither owns nor controls it.</a:t>
            </a:r>
            <a:endParaRPr lang="en-US" sz="2400" dirty="0" smtClean="0">
              <a:cs typeface="Arial" pitchFamily="34" charset="0"/>
            </a:endParaRPr>
          </a:p>
          <a:p>
            <a:pPr lvl="0" eaLnBrk="0" fontAlgn="base" hangingPunct="0">
              <a:spcBef>
                <a:spcPct val="0"/>
              </a:spcBef>
              <a:spcAft>
                <a:spcPct val="0"/>
              </a:spcAft>
            </a:pPr>
            <a:r>
              <a:rPr lang="en-US" sz="2400" dirty="0" smtClean="0">
                <a:solidFill>
                  <a:srgbClr val="3B3C3D"/>
                </a:solidFill>
                <a:cs typeface="Arial" pitchFamily="34" charset="0"/>
              </a:rPr>
              <a:t>Let’s look at some self-explanatory examples of data sources</a:t>
            </a:r>
            <a:r>
              <a:rPr lang="en-US" sz="2000" dirty="0" smtClean="0">
                <a:solidFill>
                  <a:srgbClr val="3B3C3D"/>
                </a:solidFill>
                <a:cs typeface="Arial" pitchFamily="34" charset="0"/>
              </a:rPr>
              <a:t>.</a:t>
            </a:r>
            <a:endParaRPr lang="en-US" sz="2000" dirty="0" smtClean="0">
              <a:cs typeface="Arial"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3343" y="191840"/>
            <a:ext cx="6417312" cy="615553"/>
          </a:xfrm>
        </p:spPr>
        <p:txBody>
          <a:bodyPr/>
          <a:lstStyle/>
          <a:p>
            <a:r>
              <a:rPr lang="en-US" dirty="0" smtClean="0"/>
              <a:t>Challenges of Big Data</a:t>
            </a:r>
            <a:endParaRPr lang="en-US" dirty="0"/>
          </a:p>
        </p:txBody>
      </p:sp>
      <p:sp>
        <p:nvSpPr>
          <p:cNvPr id="4" name="Rectangle 3"/>
          <p:cNvSpPr/>
          <p:nvPr/>
        </p:nvSpPr>
        <p:spPr>
          <a:xfrm>
            <a:off x="228600" y="914400"/>
            <a:ext cx="8763000" cy="6124754"/>
          </a:xfrm>
          <a:prstGeom prst="rect">
            <a:avLst/>
          </a:prstGeom>
        </p:spPr>
        <p:txBody>
          <a:bodyPr wrap="square">
            <a:spAutoFit/>
          </a:bodyPr>
          <a:lstStyle/>
          <a:p>
            <a:pPr marL="457200" indent="-457200">
              <a:buAutoNum type="arabicPeriod"/>
            </a:pPr>
            <a:r>
              <a:rPr lang="en-US" sz="2400" dirty="0" smtClean="0"/>
              <a:t>Managing massive amounts of data</a:t>
            </a:r>
            <a:r>
              <a:rPr lang="en-US" sz="2400" b="1" dirty="0" smtClean="0"/>
              <a:t> </a:t>
            </a:r>
          </a:p>
          <a:p>
            <a:pPr marL="457200" indent="-457200"/>
            <a:endParaRPr lang="en-US" sz="800" b="1" dirty="0" smtClean="0"/>
          </a:p>
          <a:p>
            <a:pPr marL="457200" indent="-457200"/>
            <a:r>
              <a:rPr lang="en-US" sz="2400" dirty="0" smtClean="0"/>
              <a:t>2.   Integrating data from multiple sources</a:t>
            </a:r>
          </a:p>
          <a:p>
            <a:pPr marL="457200" indent="-457200">
              <a:buAutoNum type="arabicPeriod"/>
            </a:pPr>
            <a:endParaRPr lang="en-US" sz="800" dirty="0" smtClean="0"/>
          </a:p>
          <a:p>
            <a:pPr marL="457200" indent="-457200"/>
            <a:r>
              <a:rPr lang="en-US" sz="2400" dirty="0" smtClean="0"/>
              <a:t>3.   Ensuring data quality</a:t>
            </a:r>
          </a:p>
          <a:p>
            <a:pPr marL="457200" indent="-457200">
              <a:buFontTx/>
              <a:buAutoNum type="arabicPeriod"/>
            </a:pPr>
            <a:endParaRPr lang="en-US" sz="800" dirty="0" smtClean="0">
              <a:solidFill>
                <a:srgbClr val="002060"/>
              </a:solidFill>
            </a:endParaRPr>
          </a:p>
          <a:p>
            <a:pPr marL="457200" indent="-457200"/>
            <a:r>
              <a:rPr lang="en-US" sz="2400" dirty="0" smtClean="0"/>
              <a:t>4.   Keeping data secure</a:t>
            </a:r>
          </a:p>
          <a:p>
            <a:pPr marL="457200" indent="-457200">
              <a:buFontTx/>
              <a:buAutoNum type="arabicPeriod"/>
            </a:pPr>
            <a:endParaRPr lang="en-US" sz="800" dirty="0" smtClean="0"/>
          </a:p>
          <a:p>
            <a:pPr marL="457200" indent="-457200"/>
            <a:r>
              <a:rPr lang="en-US" sz="2400" dirty="0" smtClean="0"/>
              <a:t>5.  Selecting the right big data tools</a:t>
            </a:r>
          </a:p>
          <a:p>
            <a:pPr marL="457200" indent="-457200">
              <a:buFontTx/>
              <a:buAutoNum type="arabicPeriod"/>
            </a:pPr>
            <a:endParaRPr lang="en-US" sz="800" dirty="0" smtClean="0"/>
          </a:p>
          <a:p>
            <a:pPr marL="457200" indent="-457200"/>
            <a:r>
              <a:rPr lang="en-US" sz="2400" dirty="0" smtClean="0"/>
              <a:t>7.  Scaling systems and costs efficiently</a:t>
            </a:r>
          </a:p>
          <a:p>
            <a:pPr marL="457200" indent="-457200">
              <a:buAutoNum type="arabicPeriod" startAt="6"/>
            </a:pPr>
            <a:endParaRPr lang="en-US" sz="800" dirty="0" smtClean="0"/>
          </a:p>
          <a:p>
            <a:pPr marL="457200" indent="-457200"/>
            <a:r>
              <a:rPr lang="en-US" sz="2400" dirty="0" smtClean="0"/>
              <a:t>8.  Lack of skilled data professionals</a:t>
            </a:r>
          </a:p>
          <a:p>
            <a:pPr marL="457200" indent="-457200">
              <a:buAutoNum type="arabicPeriod" startAt="7"/>
            </a:pPr>
            <a:endParaRPr lang="en-US" sz="800" dirty="0" smtClean="0"/>
          </a:p>
          <a:p>
            <a:pPr marL="457200" indent="-457200"/>
            <a:r>
              <a:rPr lang="en-US" sz="2400" dirty="0" smtClean="0"/>
              <a:t>9.  Organizational resistance</a:t>
            </a:r>
          </a:p>
          <a:p>
            <a:pPr marL="457200" indent="-457200">
              <a:buFontTx/>
              <a:buAutoNum type="arabicPeriod"/>
            </a:pPr>
            <a:endParaRPr lang="en-US" sz="2400" dirty="0" smtClean="0"/>
          </a:p>
          <a:p>
            <a:pPr marL="457200" indent="-457200">
              <a:buFontTx/>
              <a:buAutoNum type="arabicPeriod"/>
            </a:pPr>
            <a:endParaRPr lang="en-US" sz="2400" b="1" dirty="0" smtClean="0"/>
          </a:p>
          <a:p>
            <a:pPr marL="457200" indent="-457200">
              <a:buFontTx/>
              <a:buAutoNum type="arabicPeriod"/>
            </a:pPr>
            <a:endParaRPr lang="en-US" sz="2400" b="1" dirty="0" smtClean="0"/>
          </a:p>
          <a:p>
            <a:pPr marL="457200" indent="-457200">
              <a:buFontTx/>
              <a:buAutoNum type="arabicPeriod"/>
            </a:pPr>
            <a:endParaRPr lang="en-US" sz="2400" dirty="0" smtClean="0">
              <a:solidFill>
                <a:srgbClr val="002060"/>
              </a:solidFill>
            </a:endParaRPr>
          </a:p>
          <a:p>
            <a:pPr marL="457200" indent="-457200">
              <a:buFontTx/>
              <a:buAutoNum type="arabicPeriod"/>
            </a:pPr>
            <a:endParaRPr lang="en-US" sz="2400" b="1" dirty="0" smtClean="0"/>
          </a:p>
          <a:p>
            <a:pPr marL="457200" indent="-457200">
              <a:buAutoNum type="arabicPeriod"/>
            </a:pP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40" name="Picture 4" descr="https://www.techtarget.com/rms/onlineimages/data_management-10_big_data_challenges-f.png"/>
          <p:cNvPicPr>
            <a:picLocks noChangeAspect="1" noChangeArrowheads="1"/>
          </p:cNvPicPr>
          <p:nvPr/>
        </p:nvPicPr>
        <p:blipFill>
          <a:blip r:embed="rId2" cstate="print"/>
          <a:srcRect/>
          <a:stretch>
            <a:fillRect/>
          </a:stretch>
        </p:blipFill>
        <p:spPr bwMode="auto">
          <a:xfrm>
            <a:off x="0" y="0"/>
            <a:ext cx="9067800" cy="68580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descr="https://jamieson-don.azurewebsites.net/images.xenonstack.com/blog/5Vs-Of-Big-Data.png"/>
          <p:cNvPicPr>
            <a:picLocks noChangeAspect="1" noChangeArrowheads="1"/>
          </p:cNvPicPr>
          <p:nvPr/>
        </p:nvPicPr>
        <p:blipFill>
          <a:blip r:embed="rId2" cstate="print"/>
          <a:srcRect/>
          <a:stretch>
            <a:fillRect/>
          </a:stretch>
        </p:blipFill>
        <p:spPr bwMode="auto">
          <a:xfrm>
            <a:off x="-6427" y="0"/>
            <a:ext cx="9150427" cy="68580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https://i.pinimg.com/originals/56/38/62/5638623810a154ad630b5a309ffbed25.png"/>
          <p:cNvPicPr>
            <a:picLocks noChangeAspect="1" noChangeArrowheads="1"/>
          </p:cNvPicPr>
          <p:nvPr/>
        </p:nvPicPr>
        <p:blipFill>
          <a:blip r:embed="rId2" cstate="print"/>
          <a:srcRect/>
          <a:stretch>
            <a:fillRect/>
          </a:stretch>
        </p:blipFill>
        <p:spPr bwMode="auto">
          <a:xfrm>
            <a:off x="228600" y="133350"/>
            <a:ext cx="8915400" cy="672465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228600"/>
            <a:ext cx="8686800" cy="5816977"/>
          </a:xfrm>
          <a:prstGeom prst="rect">
            <a:avLst/>
          </a:prstGeom>
        </p:spPr>
        <p:txBody>
          <a:bodyPr wrap="square">
            <a:spAutoFit/>
          </a:bodyPr>
          <a:lstStyle/>
          <a:p>
            <a:pPr algn="ctr"/>
            <a:r>
              <a:rPr lang="en-US" sz="3200" b="1" u="sng" dirty="0" smtClean="0"/>
              <a:t>Types of Digital Data: </a:t>
            </a:r>
          </a:p>
          <a:p>
            <a:pPr>
              <a:buFont typeface="Arial" pitchFamily="34" charset="0"/>
              <a:buChar char="•"/>
            </a:pPr>
            <a:r>
              <a:rPr lang="en-US" sz="2400" dirty="0" smtClean="0"/>
              <a:t> Structured </a:t>
            </a:r>
          </a:p>
          <a:p>
            <a:pPr>
              <a:buFont typeface="Arial" pitchFamily="34" charset="0"/>
              <a:buChar char="•"/>
            </a:pPr>
            <a:r>
              <a:rPr lang="en-US" sz="2400" dirty="0" smtClean="0"/>
              <a:t> Unstructured </a:t>
            </a:r>
          </a:p>
          <a:p>
            <a:pPr>
              <a:buFont typeface="Arial" pitchFamily="34" charset="0"/>
              <a:buChar char="•"/>
            </a:pPr>
            <a:r>
              <a:rPr lang="en-US" sz="2400" dirty="0" smtClean="0"/>
              <a:t> Semi Structured Data </a:t>
            </a:r>
          </a:p>
          <a:p>
            <a:r>
              <a:rPr lang="en-US" sz="2400" dirty="0" smtClean="0"/>
              <a:t> </a:t>
            </a:r>
            <a:r>
              <a:rPr lang="en-US" sz="2800" b="1" dirty="0" smtClean="0"/>
              <a:t>Structured Data:</a:t>
            </a:r>
          </a:p>
          <a:p>
            <a:pPr>
              <a:buFont typeface="Arial" pitchFamily="34" charset="0"/>
              <a:buChar char="•"/>
            </a:pPr>
            <a:r>
              <a:rPr lang="en-US" sz="2400" dirty="0" smtClean="0"/>
              <a:t> Structured data refers to any data that resides in a fixed field within a record or file. </a:t>
            </a:r>
          </a:p>
          <a:p>
            <a:pPr>
              <a:buFont typeface="Arial" pitchFamily="34" charset="0"/>
              <a:buChar char="•"/>
            </a:pPr>
            <a:r>
              <a:rPr lang="en-US" sz="2400" dirty="0" smtClean="0"/>
              <a:t> Having a particular Data Model. </a:t>
            </a:r>
          </a:p>
          <a:p>
            <a:pPr>
              <a:buFont typeface="Arial" pitchFamily="34" charset="0"/>
              <a:buChar char="•"/>
            </a:pPr>
            <a:r>
              <a:rPr lang="en-US" sz="2400" dirty="0" smtClean="0"/>
              <a:t> Meaningful data. </a:t>
            </a:r>
          </a:p>
          <a:p>
            <a:pPr>
              <a:buFont typeface="Arial" pitchFamily="34" charset="0"/>
              <a:buChar char="•"/>
            </a:pPr>
            <a:r>
              <a:rPr lang="en-US" sz="2400" dirty="0" smtClean="0"/>
              <a:t> Data arranged in a row and column. </a:t>
            </a:r>
          </a:p>
          <a:p>
            <a:pPr>
              <a:buFont typeface="Arial" pitchFamily="34" charset="0"/>
              <a:buChar char="•"/>
            </a:pPr>
            <a:r>
              <a:rPr lang="en-US" sz="2400" dirty="0" smtClean="0"/>
              <a:t> Structured data has the advantage of being easily entered, stored, queried and analyzed. </a:t>
            </a:r>
          </a:p>
          <a:p>
            <a:pPr>
              <a:buFont typeface="Arial" pitchFamily="34" charset="0"/>
              <a:buChar char="•"/>
            </a:pPr>
            <a:r>
              <a:rPr lang="en-US" sz="2400" dirty="0" smtClean="0"/>
              <a:t>E.g.: Relational Data Base, Spread sheets. </a:t>
            </a:r>
          </a:p>
          <a:p>
            <a:pPr>
              <a:buFont typeface="Arial" pitchFamily="34" charset="0"/>
              <a:buChar char="•"/>
            </a:pPr>
            <a:r>
              <a:rPr lang="en-US" sz="2400" dirty="0" smtClean="0"/>
              <a:t> Structured data is often managed using Structured Query Language (SQL</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91840"/>
            <a:ext cx="8839200" cy="5601533"/>
          </a:xfrm>
        </p:spPr>
        <p:txBody>
          <a:bodyPr/>
          <a:lstStyle/>
          <a:p>
            <a:r>
              <a:rPr lang="en-US" sz="2800" b="1" dirty="0" smtClean="0"/>
              <a:t>Sources of Structured Data: </a:t>
            </a:r>
            <a:r>
              <a:rPr lang="en-US" sz="2400" dirty="0" smtClean="0"/>
              <a:t/>
            </a:r>
            <a:br>
              <a:rPr lang="en-US" sz="2400" dirty="0" smtClean="0"/>
            </a:br>
            <a:r>
              <a:rPr lang="en-US" sz="2400" dirty="0" smtClean="0"/>
              <a:t>  * SQL Databases</a:t>
            </a:r>
            <a:br>
              <a:rPr lang="en-US" sz="2400" dirty="0" smtClean="0"/>
            </a:br>
            <a:r>
              <a:rPr lang="en-US" sz="2400" dirty="0" smtClean="0"/>
              <a:t>  *  Spreadsheets such as Excel </a:t>
            </a:r>
            <a:br>
              <a:rPr lang="en-US" sz="2400" dirty="0" smtClean="0"/>
            </a:br>
            <a:r>
              <a:rPr lang="en-US" sz="2400" dirty="0" smtClean="0"/>
              <a:t>  * OLTP Systems </a:t>
            </a:r>
            <a:br>
              <a:rPr lang="en-US" sz="2400" dirty="0" smtClean="0"/>
            </a:br>
            <a:r>
              <a:rPr lang="en-US" sz="2400" dirty="0" smtClean="0"/>
              <a:t>  * Online forms </a:t>
            </a:r>
            <a:br>
              <a:rPr lang="en-US" sz="2400" dirty="0" smtClean="0"/>
            </a:br>
            <a:r>
              <a:rPr lang="en-US" sz="2400" dirty="0" smtClean="0"/>
              <a:t>  * Sensors such as GPS or RFID tags </a:t>
            </a:r>
            <a:br>
              <a:rPr lang="en-US" sz="2400" dirty="0" smtClean="0"/>
            </a:br>
            <a:r>
              <a:rPr lang="en-US" sz="2400" dirty="0" smtClean="0"/>
              <a:t>  * Network and Web server logs </a:t>
            </a:r>
            <a:br>
              <a:rPr lang="en-US" sz="2400" dirty="0" smtClean="0"/>
            </a:br>
            <a:r>
              <a:rPr lang="en-US" sz="2400" dirty="0" smtClean="0"/>
              <a:t>  * Medical device</a:t>
            </a:r>
            <a:br>
              <a:rPr lang="en-US" sz="2400" dirty="0" smtClean="0"/>
            </a:br>
            <a:r>
              <a:rPr lang="en-US" sz="2400" dirty="0" smtClean="0"/>
              <a:t/>
            </a:r>
            <a:br>
              <a:rPr lang="en-US" sz="2400" dirty="0" smtClean="0"/>
            </a:br>
            <a:r>
              <a:rPr lang="en-US" sz="2400" b="1" dirty="0" smtClean="0"/>
              <a:t>Advantages of Structured Data:</a:t>
            </a:r>
            <a:br>
              <a:rPr lang="en-US" sz="2400" b="1" dirty="0" smtClean="0"/>
            </a:br>
            <a:r>
              <a:rPr lang="en-US" sz="2400" b="1" dirty="0" smtClean="0"/>
              <a:t>*</a:t>
            </a:r>
            <a:r>
              <a:rPr lang="en-US" sz="2400" dirty="0" smtClean="0"/>
              <a:t> Easy to understand and use</a:t>
            </a:r>
            <a:br>
              <a:rPr lang="en-US" sz="2400" dirty="0" smtClean="0"/>
            </a:br>
            <a:r>
              <a:rPr lang="en-US" sz="2400" dirty="0" smtClean="0"/>
              <a:t>* Consistency</a:t>
            </a:r>
            <a:br>
              <a:rPr lang="en-US" sz="2400" dirty="0" smtClean="0"/>
            </a:br>
            <a:r>
              <a:rPr lang="en-US" sz="2400" dirty="0" smtClean="0"/>
              <a:t>* Efficient storage and retrieval</a:t>
            </a:r>
            <a:br>
              <a:rPr lang="en-US" sz="2400" dirty="0" smtClean="0"/>
            </a:br>
            <a:r>
              <a:rPr lang="en-US" sz="2400" dirty="0" smtClean="0"/>
              <a:t>* Enhanced data security</a:t>
            </a:r>
            <a:br>
              <a:rPr lang="en-US" sz="2400" dirty="0" smtClean="0"/>
            </a:br>
            <a:r>
              <a:rPr lang="en-US" sz="2400" dirty="0" smtClean="0"/>
              <a:t>* Clear data lineage</a:t>
            </a:r>
            <a:endParaRPr lang="en-US" sz="24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71476" y="523858"/>
            <a:ext cx="8477885" cy="5963285"/>
            <a:chOff x="371476" y="523858"/>
            <a:chExt cx="8477885" cy="5963285"/>
          </a:xfrm>
        </p:grpSpPr>
        <p:pic>
          <p:nvPicPr>
            <p:cNvPr id="3" name="object 3"/>
            <p:cNvPicPr/>
            <p:nvPr/>
          </p:nvPicPr>
          <p:blipFill>
            <a:blip r:embed="rId2" cstate="print"/>
            <a:stretch>
              <a:fillRect/>
            </a:stretch>
          </p:blipFill>
          <p:spPr>
            <a:xfrm>
              <a:off x="381000" y="533400"/>
              <a:ext cx="8458200" cy="5943600"/>
            </a:xfrm>
            <a:prstGeom prst="rect">
              <a:avLst/>
            </a:prstGeom>
          </p:spPr>
        </p:pic>
        <p:sp>
          <p:nvSpPr>
            <p:cNvPr id="4" name="object 4"/>
            <p:cNvSpPr/>
            <p:nvPr/>
          </p:nvSpPr>
          <p:spPr>
            <a:xfrm>
              <a:off x="376239" y="528620"/>
              <a:ext cx="8468360" cy="5953760"/>
            </a:xfrm>
            <a:custGeom>
              <a:avLst/>
              <a:gdLst/>
              <a:ahLst/>
              <a:cxnLst/>
              <a:rect l="l" t="t" r="r" b="b"/>
              <a:pathLst>
                <a:path w="8468360" h="5953760">
                  <a:moveTo>
                    <a:pt x="0" y="5953140"/>
                  </a:moveTo>
                  <a:lnTo>
                    <a:pt x="8467740" y="5953140"/>
                  </a:lnTo>
                  <a:lnTo>
                    <a:pt x="8467740" y="0"/>
                  </a:lnTo>
                  <a:lnTo>
                    <a:pt x="0" y="0"/>
                  </a:lnTo>
                  <a:lnTo>
                    <a:pt x="0" y="5953140"/>
                  </a:lnTo>
                  <a:close/>
                </a:path>
              </a:pathLst>
            </a:custGeom>
            <a:ln w="9524">
              <a:solidFill>
                <a:srgbClr val="4F80BC"/>
              </a:solidFill>
            </a:ln>
          </p:spPr>
          <p:txBody>
            <a:bodyPr wrap="square" lIns="0" tIns="0" rIns="0" bIns="0" rtlCol="0"/>
            <a:lstStyle/>
            <a:p>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04800"/>
            <a:ext cx="8458200" cy="5816977"/>
          </a:xfrm>
          <a:prstGeom prst="rect">
            <a:avLst/>
          </a:prstGeom>
        </p:spPr>
        <p:txBody>
          <a:bodyPr wrap="square">
            <a:spAutoFit/>
          </a:bodyPr>
          <a:lstStyle/>
          <a:p>
            <a:r>
              <a:rPr lang="en-US" sz="2800" b="1" dirty="0" smtClean="0"/>
              <a:t>Unstructured Data: </a:t>
            </a:r>
          </a:p>
          <a:p>
            <a:pPr>
              <a:buFont typeface="Arial" pitchFamily="34" charset="0"/>
              <a:buChar char="•"/>
            </a:pPr>
            <a:r>
              <a:rPr lang="en-US" sz="2400" dirty="0" smtClean="0"/>
              <a:t> Unstructured data can not readily classify and fit into a neat box </a:t>
            </a:r>
          </a:p>
          <a:p>
            <a:pPr>
              <a:buFont typeface="Arial" pitchFamily="34" charset="0"/>
              <a:buChar char="•"/>
            </a:pPr>
            <a:r>
              <a:rPr lang="en-US" sz="2400" dirty="0" smtClean="0"/>
              <a:t> Also called unclassified data. </a:t>
            </a:r>
          </a:p>
          <a:p>
            <a:pPr>
              <a:buFont typeface="Arial" pitchFamily="34" charset="0"/>
              <a:buChar char="•"/>
            </a:pPr>
            <a:r>
              <a:rPr lang="en-US" sz="2400" dirty="0" smtClean="0"/>
              <a:t> Which does not confirm to any data model. </a:t>
            </a:r>
          </a:p>
          <a:p>
            <a:pPr>
              <a:buFont typeface="Arial" pitchFamily="34" charset="0"/>
              <a:buChar char="•"/>
            </a:pPr>
            <a:r>
              <a:rPr lang="en-US" sz="2400" dirty="0" smtClean="0"/>
              <a:t> Business rules are not applied. </a:t>
            </a:r>
          </a:p>
          <a:p>
            <a:pPr>
              <a:buFont typeface="Arial" pitchFamily="34" charset="0"/>
              <a:buChar char="•"/>
            </a:pPr>
            <a:r>
              <a:rPr lang="en-US" sz="2400" dirty="0" smtClean="0"/>
              <a:t> Indexing is not required. </a:t>
            </a:r>
          </a:p>
          <a:p>
            <a:pPr>
              <a:buFont typeface="Arial" pitchFamily="34" charset="0"/>
              <a:buChar char="•"/>
            </a:pPr>
            <a:r>
              <a:rPr lang="en-US" sz="2400" dirty="0" smtClean="0"/>
              <a:t>E.g.: photos and graphic images, videos, streaming instrument data, </a:t>
            </a:r>
            <a:r>
              <a:rPr lang="en-US" sz="2400" dirty="0" err="1" smtClean="0"/>
              <a:t>webpages</a:t>
            </a:r>
            <a:r>
              <a:rPr lang="en-US" sz="2400" dirty="0" smtClean="0"/>
              <a:t>, </a:t>
            </a:r>
            <a:r>
              <a:rPr lang="en-US" sz="2400" dirty="0" err="1" smtClean="0"/>
              <a:t>Pdf</a:t>
            </a:r>
            <a:r>
              <a:rPr lang="en-US" sz="2400" dirty="0" smtClean="0"/>
              <a:t> files, PowerPoint presentations, emails, blog entries, wikis and word processing documents. </a:t>
            </a:r>
          </a:p>
          <a:p>
            <a:endParaRPr lang="en-US" sz="2800" b="1" dirty="0" smtClean="0"/>
          </a:p>
          <a:p>
            <a:r>
              <a:rPr lang="en-US" sz="2800" b="1" dirty="0" smtClean="0"/>
              <a:t>Sources of Unstructured Data: </a:t>
            </a:r>
          </a:p>
          <a:p>
            <a:pPr>
              <a:buFont typeface="Arial" pitchFamily="34" charset="0"/>
              <a:buChar char="•"/>
            </a:pPr>
            <a:r>
              <a:rPr lang="en-US" sz="2400" dirty="0" smtClean="0"/>
              <a:t> Web pages </a:t>
            </a:r>
          </a:p>
          <a:p>
            <a:pPr>
              <a:buFont typeface="Arial" pitchFamily="34" charset="0"/>
              <a:buChar char="•"/>
            </a:pPr>
            <a:r>
              <a:rPr lang="en-US" sz="2400" dirty="0" smtClean="0"/>
              <a:t> Images (JPEG, GIF, PNG, etc.) </a:t>
            </a:r>
          </a:p>
          <a:p>
            <a:pPr>
              <a:buFont typeface="Arial" pitchFamily="34" charset="0"/>
              <a:buChar char="•"/>
            </a:pPr>
            <a:r>
              <a:rPr lang="en-US" sz="2400" dirty="0" smtClean="0"/>
              <a:t> Videos, Memos, Reports ,Word documents and PowerPoint   presentations, Surveys</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5478423"/>
          </a:xfrm>
          <a:prstGeom prst="rect">
            <a:avLst/>
          </a:prstGeom>
        </p:spPr>
        <p:txBody>
          <a:bodyPr wrap="square">
            <a:spAutoFit/>
          </a:bodyPr>
          <a:lstStyle/>
          <a:p>
            <a:r>
              <a:rPr lang="en-US" sz="2800" b="1" dirty="0" smtClean="0"/>
              <a:t>Semi structured Data: </a:t>
            </a:r>
          </a:p>
          <a:p>
            <a:pPr>
              <a:buFont typeface="Arial" pitchFamily="34" charset="0"/>
              <a:buChar char="•"/>
            </a:pPr>
            <a:r>
              <a:rPr lang="en-US" sz="2000" dirty="0" smtClean="0"/>
              <a:t>Self-describing data. </a:t>
            </a:r>
          </a:p>
          <a:p>
            <a:pPr>
              <a:buFont typeface="Arial" pitchFamily="34" charset="0"/>
              <a:buChar char="•"/>
            </a:pPr>
            <a:r>
              <a:rPr lang="en-US" sz="2000" dirty="0" smtClean="0"/>
              <a:t>Metadata (Data about data). </a:t>
            </a:r>
          </a:p>
          <a:p>
            <a:pPr>
              <a:buFont typeface="Arial" pitchFamily="34" charset="0"/>
              <a:buChar char="•"/>
            </a:pPr>
            <a:r>
              <a:rPr lang="en-US" sz="2000" dirty="0" smtClean="0"/>
              <a:t>Also called quiz data: data in between structured and semi structured. </a:t>
            </a:r>
          </a:p>
          <a:p>
            <a:pPr>
              <a:buFont typeface="Arial" pitchFamily="34" charset="0"/>
              <a:buChar char="•"/>
            </a:pPr>
            <a:r>
              <a:rPr lang="en-US" sz="2000" dirty="0" smtClean="0"/>
              <a:t> It is a type of structured data but not followed data model. </a:t>
            </a:r>
          </a:p>
          <a:p>
            <a:pPr>
              <a:buFont typeface="Arial" pitchFamily="34" charset="0"/>
              <a:buChar char="•"/>
            </a:pPr>
            <a:r>
              <a:rPr lang="en-US" sz="2000" dirty="0" smtClean="0"/>
              <a:t>Data which does not have rigid structure. </a:t>
            </a:r>
          </a:p>
          <a:p>
            <a:pPr>
              <a:buFont typeface="Arial" pitchFamily="34" charset="0"/>
              <a:buChar char="•"/>
            </a:pPr>
            <a:r>
              <a:rPr lang="en-US" sz="2000" dirty="0" smtClean="0"/>
              <a:t> E.g.: E-mails, word processing software. </a:t>
            </a:r>
          </a:p>
          <a:p>
            <a:pPr>
              <a:buFont typeface="Arial" pitchFamily="34" charset="0"/>
              <a:buChar char="•"/>
            </a:pPr>
            <a:r>
              <a:rPr lang="en-US" sz="2000" dirty="0" smtClean="0"/>
              <a:t> XML and other markup language are often used to manage semi structured data. </a:t>
            </a:r>
          </a:p>
          <a:p>
            <a:endParaRPr lang="en-US" dirty="0" smtClean="0"/>
          </a:p>
          <a:p>
            <a:r>
              <a:rPr lang="en-US" sz="2400" b="1" dirty="0" smtClean="0"/>
              <a:t>Sources of semi-structured Data: </a:t>
            </a:r>
          </a:p>
          <a:p>
            <a:pPr>
              <a:buFont typeface="Arial" pitchFamily="34" charset="0"/>
              <a:buChar char="•"/>
            </a:pPr>
            <a:r>
              <a:rPr lang="en-US" dirty="0" smtClean="0"/>
              <a:t> </a:t>
            </a:r>
            <a:r>
              <a:rPr lang="en-US" sz="2000" dirty="0" smtClean="0"/>
              <a:t>E-mails </a:t>
            </a:r>
          </a:p>
          <a:p>
            <a:pPr>
              <a:buFont typeface="Arial" pitchFamily="34" charset="0"/>
              <a:buChar char="•"/>
            </a:pPr>
            <a:r>
              <a:rPr lang="en-US" sz="2000" dirty="0" smtClean="0"/>
              <a:t> XML and other markup languages </a:t>
            </a:r>
          </a:p>
          <a:p>
            <a:pPr>
              <a:buFont typeface="Arial" pitchFamily="34" charset="0"/>
              <a:buChar char="•"/>
            </a:pPr>
            <a:r>
              <a:rPr lang="en-US" sz="2000" dirty="0" smtClean="0"/>
              <a:t> Binary executables </a:t>
            </a:r>
          </a:p>
          <a:p>
            <a:pPr>
              <a:buFont typeface="Arial" pitchFamily="34" charset="0"/>
              <a:buChar char="•"/>
            </a:pPr>
            <a:r>
              <a:rPr lang="en-US" sz="2000" dirty="0" smtClean="0"/>
              <a:t> TCP/IP packets </a:t>
            </a:r>
          </a:p>
          <a:p>
            <a:pPr>
              <a:buFont typeface="Arial" pitchFamily="34" charset="0"/>
              <a:buChar char="•"/>
            </a:pPr>
            <a:r>
              <a:rPr lang="en-US" sz="2000" dirty="0" smtClean="0"/>
              <a:t>Zipped files </a:t>
            </a:r>
          </a:p>
          <a:p>
            <a:pPr>
              <a:buFont typeface="Arial" pitchFamily="34" charset="0"/>
              <a:buChar char="•"/>
            </a:pPr>
            <a:r>
              <a:rPr lang="en-US" sz="2000" dirty="0" smtClean="0"/>
              <a:t>Integration of data from different sources </a:t>
            </a:r>
          </a:p>
          <a:p>
            <a:pPr>
              <a:buFont typeface="Arial" pitchFamily="34" charset="0"/>
              <a:buChar char="•"/>
            </a:pPr>
            <a:r>
              <a:rPr lang="en-US" sz="2000" dirty="0" smtClean="0"/>
              <a:t> Web pages </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228600"/>
            <a:ext cx="8610600" cy="6124754"/>
          </a:xfrm>
          <a:prstGeom prst="rect">
            <a:avLst/>
          </a:prstGeom>
          <a:noFill/>
        </p:spPr>
        <p:txBody>
          <a:bodyPr wrap="square" rtlCol="0">
            <a:spAutoFit/>
          </a:bodyPr>
          <a:lstStyle/>
          <a:p>
            <a:pPr algn="ctr"/>
            <a:r>
              <a:rPr lang="en-IN" sz="3200" b="1" dirty="0" smtClean="0"/>
              <a:t>Business Intelligence(BI)</a:t>
            </a:r>
          </a:p>
          <a:p>
            <a:r>
              <a:rPr lang="en-US" sz="2400" b="1" dirty="0" smtClean="0"/>
              <a:t>BI: Data-Driven Decision Making</a:t>
            </a:r>
          </a:p>
          <a:p>
            <a:r>
              <a:rPr lang="en-US" sz="2400" dirty="0" smtClean="0"/>
              <a:t>Business intelligence (BI) is the </a:t>
            </a:r>
            <a:r>
              <a:rPr lang="en-US" sz="2400" b="1" dirty="0" smtClean="0"/>
              <a:t>art and science</a:t>
            </a:r>
            <a:r>
              <a:rPr lang="en-US" sz="2400" dirty="0" smtClean="0"/>
              <a:t> of using data to make better decisions for a business.</a:t>
            </a:r>
          </a:p>
          <a:p>
            <a:r>
              <a:rPr lang="en-US" sz="2400" dirty="0" smtClean="0"/>
              <a:t/>
            </a:r>
            <a:br>
              <a:rPr lang="en-US" sz="2400" dirty="0" smtClean="0"/>
            </a:br>
            <a:r>
              <a:rPr lang="en-US" sz="2400" dirty="0" smtClean="0"/>
              <a:t> BI tools </a:t>
            </a:r>
            <a:r>
              <a:rPr lang="en-US" sz="2400" b="1" dirty="0" smtClean="0"/>
              <a:t>collect</a:t>
            </a:r>
            <a:r>
              <a:rPr lang="en-US" sz="2400" dirty="0" smtClean="0"/>
              <a:t>, </a:t>
            </a:r>
            <a:r>
              <a:rPr lang="en-US" sz="2400" b="1" dirty="0" smtClean="0"/>
              <a:t>store</a:t>
            </a:r>
            <a:r>
              <a:rPr lang="en-US" sz="2400" dirty="0" smtClean="0"/>
              <a:t>, </a:t>
            </a:r>
            <a:r>
              <a:rPr lang="en-US" sz="2400" b="1" dirty="0" smtClean="0"/>
              <a:t>and analyze</a:t>
            </a:r>
            <a:r>
              <a:rPr lang="en-US" sz="2400" dirty="0" smtClean="0"/>
              <a:t> data from various sources, such as transactions, social media, surveys, and sensors.</a:t>
            </a:r>
          </a:p>
          <a:p>
            <a:r>
              <a:rPr lang="en-US" sz="2400" dirty="0" smtClean="0"/>
              <a:t/>
            </a:r>
            <a:br>
              <a:rPr lang="en-US" sz="2400" dirty="0" smtClean="0"/>
            </a:br>
            <a:r>
              <a:rPr lang="en-US" sz="2400" dirty="0" smtClean="0"/>
              <a:t> BI tools present the data in </a:t>
            </a:r>
            <a:r>
              <a:rPr lang="en-US" sz="2400" b="1" dirty="0" smtClean="0"/>
              <a:t>user-friendly formats</a:t>
            </a:r>
            <a:r>
              <a:rPr lang="en-US" sz="2400" dirty="0" smtClean="0"/>
              <a:t>, such as reports, dashboards, charts, and graphs, that help users understand trends, patterns, and insights.</a:t>
            </a:r>
          </a:p>
          <a:p>
            <a:r>
              <a:rPr lang="en-US" sz="2400" dirty="0" smtClean="0"/>
              <a:t/>
            </a:r>
            <a:br>
              <a:rPr lang="en-US" sz="2400" dirty="0" smtClean="0"/>
            </a:br>
            <a:r>
              <a:rPr lang="en-US" sz="2400" dirty="0" smtClean="0"/>
              <a:t> BI is constantly evolving with new technologies, such as artificial intelligence, cloud computing, and big data analytics.</a:t>
            </a:r>
          </a:p>
          <a:p>
            <a:r>
              <a:rPr lang="en-US" sz="2400" dirty="0" smtClean="0"/>
              <a:t/>
            </a:r>
            <a:br>
              <a:rPr lang="en-US" sz="2400" dirty="0" smtClean="0"/>
            </a:b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686800" cy="6494085"/>
          </a:xfrm>
          <a:prstGeom prst="rect">
            <a:avLst/>
          </a:prstGeom>
        </p:spPr>
        <p:txBody>
          <a:bodyPr wrap="square">
            <a:spAutoFit/>
          </a:bodyPr>
          <a:lstStyle/>
          <a:p>
            <a:r>
              <a:rPr lang="en-US" sz="3200" b="1" dirty="0" smtClean="0"/>
              <a:t>Big Data vs. Traditional Business Intelligence</a:t>
            </a:r>
          </a:p>
          <a:p>
            <a:r>
              <a:rPr lang="en-US" sz="2400" dirty="0" smtClean="0"/>
              <a:t>Big Data and Traditional Business Intelligence are two approaches to analyzing and utilizing data in business settings. Traditional Business Intelligence focuses on structured data, typically stored in relational databases, and uses predefined queries and reports to extract insights. It is primarily concerned with historical data and provides a retrospective view of business operations. On the other hand, Big Data encompasses a broader range of data types, including unstructured and semi-structured data, and leverages advanced analytics techniques to uncover patterns, trends, and correlations. It enables real-time or near-real-time analysis, allowing businesses to make more proactive and data-driven decisions. While Traditional Business Intelligence is more established and structured, Big Data offers greater flexibility and scalability in handling large volumes of diverse data.</a:t>
            </a:r>
          </a:p>
          <a:p>
            <a:r>
              <a:rPr lang="en-US" sz="2400" dirty="0" smtClean="0"/>
              <a:t>Copy This URL</a:t>
            </a:r>
            <a:br>
              <a:rPr lang="en-US" sz="2400" dirty="0" smtClean="0"/>
            </a:b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2" cstate="print"/>
          <a:srcRect/>
          <a:stretch>
            <a:fillRect/>
          </a:stretch>
        </p:blipFill>
        <p:spPr bwMode="auto">
          <a:xfrm>
            <a:off x="152400" y="97186"/>
            <a:ext cx="8991600" cy="6730265"/>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924973"/>
          </a:xfrm>
          <a:prstGeom prst="rect">
            <a:avLst/>
          </a:prstGeom>
        </p:spPr>
        <p:txBody>
          <a:bodyPr wrap="square">
            <a:spAutoFit/>
          </a:bodyPr>
          <a:lstStyle/>
          <a:p>
            <a:pPr algn="ctr"/>
            <a:r>
              <a:rPr lang="en-US" sz="2800" b="1" u="sng" dirty="0" smtClean="0"/>
              <a:t>Architecture of Data Warehouse</a:t>
            </a:r>
          </a:p>
          <a:p>
            <a:pPr>
              <a:buFont typeface="Arial" pitchFamily="34" charset="0"/>
              <a:buChar char="•"/>
            </a:pPr>
            <a:r>
              <a:rPr lang="en-US" sz="2400" dirty="0" smtClean="0"/>
              <a:t>Data warehouse architecture is the design of how data is stored, processed, and accessed in a data warehouse system.</a:t>
            </a:r>
          </a:p>
          <a:p>
            <a:pPr>
              <a:buFont typeface="Arial" pitchFamily="34" charset="0"/>
              <a:buChar char="•"/>
            </a:pPr>
            <a:endParaRPr lang="en-US" sz="800" dirty="0" smtClean="0"/>
          </a:p>
          <a:p>
            <a:pPr>
              <a:buFont typeface="Arial" pitchFamily="34" charset="0"/>
              <a:buChar char="•"/>
            </a:pPr>
            <a:r>
              <a:rPr lang="en-US" sz="2400" dirty="0" smtClean="0"/>
              <a:t>It involves three main components: </a:t>
            </a:r>
            <a:r>
              <a:rPr lang="en-US" sz="2400" b="1" dirty="0" smtClean="0"/>
              <a:t>data sources</a:t>
            </a:r>
            <a:r>
              <a:rPr lang="en-US" sz="2400" dirty="0" smtClean="0"/>
              <a:t>, data </a:t>
            </a:r>
            <a:r>
              <a:rPr lang="en-US" sz="2400" b="1" dirty="0" smtClean="0"/>
              <a:t>integration</a:t>
            </a:r>
            <a:r>
              <a:rPr lang="en-US" sz="2400" dirty="0" smtClean="0"/>
              <a:t>, and data </a:t>
            </a:r>
            <a:r>
              <a:rPr lang="en-US" sz="2400" b="1" dirty="0" smtClean="0"/>
              <a:t>analytics</a:t>
            </a:r>
            <a:r>
              <a:rPr lang="en-US" sz="2400" dirty="0" smtClean="0"/>
              <a:t>, each with its own subcomponents and tools.</a:t>
            </a:r>
          </a:p>
          <a:p>
            <a:pPr>
              <a:buFont typeface="Arial" pitchFamily="34" charset="0"/>
              <a:buChar char="•"/>
            </a:pPr>
            <a:endParaRPr lang="en-US" sz="800" dirty="0" smtClean="0"/>
          </a:p>
          <a:p>
            <a:pPr>
              <a:buFont typeface="Arial" pitchFamily="34" charset="0"/>
              <a:buChar char="•"/>
            </a:pPr>
            <a:r>
              <a:rPr lang="en-US" sz="2400" b="1" dirty="0" smtClean="0"/>
              <a:t>Data sources</a:t>
            </a:r>
            <a:r>
              <a:rPr lang="en-US" sz="2400" dirty="0" smtClean="0"/>
              <a:t> are the heterogeneous and diverse systems that generate and collect data, such as databases, applications, web logs, sensors, etc.</a:t>
            </a:r>
          </a:p>
          <a:p>
            <a:pPr>
              <a:buFont typeface="Arial" pitchFamily="34" charset="0"/>
              <a:buChar char="•"/>
            </a:pPr>
            <a:endParaRPr lang="en-US" sz="800" dirty="0" smtClean="0"/>
          </a:p>
          <a:p>
            <a:pPr>
              <a:buFont typeface="Arial" pitchFamily="34" charset="0"/>
              <a:buChar char="•"/>
            </a:pPr>
            <a:r>
              <a:rPr lang="en-US" sz="2400" dirty="0" smtClean="0"/>
              <a:t>Data </a:t>
            </a:r>
            <a:r>
              <a:rPr lang="en-US" sz="2400" b="1" dirty="0" smtClean="0"/>
              <a:t>integration</a:t>
            </a:r>
            <a:r>
              <a:rPr lang="en-US" sz="2400" dirty="0" smtClean="0"/>
              <a:t> is the process of extracting, transforming, and loading (ETL) data from the sources to the data warehouse, where it is cleansed, standardized, and organized under a unified schema.</a:t>
            </a:r>
          </a:p>
          <a:p>
            <a:endParaRPr lang="en-US" sz="800" dirty="0" smtClean="0"/>
          </a:p>
          <a:p>
            <a:pPr>
              <a:buFont typeface="Arial" pitchFamily="34" charset="0"/>
              <a:buChar char="•"/>
            </a:pPr>
            <a:r>
              <a:rPr lang="en-US" sz="2400" dirty="0" smtClean="0"/>
              <a:t>Data </a:t>
            </a:r>
            <a:r>
              <a:rPr lang="en-US" sz="2400" b="1" dirty="0" smtClean="0"/>
              <a:t>analytics</a:t>
            </a:r>
            <a:r>
              <a:rPr lang="en-US" sz="2400" dirty="0" smtClean="0"/>
              <a:t> is the layer that provides users with access to the data warehouse, using various tools and techniques, such as </a:t>
            </a:r>
            <a:r>
              <a:rPr lang="en-US" sz="2400" b="1" dirty="0" smtClean="0"/>
              <a:t>query languages</a:t>
            </a:r>
            <a:r>
              <a:rPr lang="en-US" sz="2400" dirty="0" smtClean="0"/>
              <a:t>, </a:t>
            </a:r>
            <a:r>
              <a:rPr lang="en-US" sz="2400" b="1" dirty="0" smtClean="0"/>
              <a:t>reporting</a:t>
            </a:r>
            <a:r>
              <a:rPr lang="en-US" sz="2400" dirty="0" smtClean="0"/>
              <a:t>, </a:t>
            </a:r>
            <a:r>
              <a:rPr lang="en-US" sz="2400" b="1" dirty="0" smtClean="0"/>
              <a:t>dashboards</a:t>
            </a:r>
            <a:r>
              <a:rPr lang="en-US" sz="2400" dirty="0" smtClean="0"/>
              <a:t>, data mining, machine learning, etc.</a:t>
            </a:r>
          </a:p>
          <a:p>
            <a:pPr>
              <a:buFont typeface="Arial" pitchFamily="34" charset="0"/>
              <a:buChar char="•"/>
            </a:pPr>
            <a:endParaRPr lang="en-US" sz="800" dirty="0" smtClean="0"/>
          </a:p>
          <a:p>
            <a:pPr>
              <a:buFont typeface="Arial" pitchFamily="34" charset="0"/>
              <a:buChar char="•"/>
            </a:pPr>
            <a:r>
              <a:rPr lang="en-US" sz="2400" dirty="0" smtClean="0"/>
              <a:t>Data warehouse architecture can be classified into different types, such as single-tier, two-tier, or three-tier, depending on the complexity and separation of the components.</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cstate="print"/>
          <a:srcRect/>
          <a:stretch>
            <a:fillRect/>
          </a:stretch>
        </p:blipFill>
        <p:spPr bwMode="auto">
          <a:xfrm>
            <a:off x="231627" y="457200"/>
            <a:ext cx="8683773" cy="571500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4" name="Picture 4" descr="https://cdn.educba.com/academy/wp-content/uploads/2019/05/different-layers-of-data-warehouse-architecture.png"/>
          <p:cNvPicPr>
            <a:picLocks noChangeAspect="1" noChangeArrowheads="1"/>
          </p:cNvPicPr>
          <p:nvPr/>
        </p:nvPicPr>
        <p:blipFill>
          <a:blip r:embed="rId2" cstate="print"/>
          <a:srcRect/>
          <a:stretch>
            <a:fillRect/>
          </a:stretch>
        </p:blipFill>
        <p:spPr bwMode="auto">
          <a:xfrm>
            <a:off x="2074" y="0"/>
            <a:ext cx="9100716" cy="68580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04800"/>
            <a:ext cx="8610600" cy="5201424"/>
          </a:xfrm>
          <a:prstGeom prst="rect">
            <a:avLst/>
          </a:prstGeom>
        </p:spPr>
        <p:txBody>
          <a:bodyPr wrap="square">
            <a:spAutoFit/>
          </a:bodyPr>
          <a:lstStyle/>
          <a:p>
            <a:endParaRPr lang="en-US" dirty="0" smtClean="0"/>
          </a:p>
          <a:p>
            <a:pPr algn="ctr"/>
            <a:r>
              <a:rPr lang="en-US" sz="3200" b="1" u="sng" dirty="0" smtClean="0"/>
              <a:t>Analytical tools used for Big Data Analytics</a:t>
            </a:r>
          </a:p>
          <a:p>
            <a:endParaRPr lang="en-US" dirty="0" smtClean="0"/>
          </a:p>
          <a:p>
            <a:r>
              <a:rPr lang="en-US" sz="2400" dirty="0" smtClean="0"/>
              <a:t>Here are some of the key big data analytics tools :</a:t>
            </a:r>
          </a:p>
          <a:p>
            <a:endParaRPr lang="en-US" sz="2400" dirty="0" smtClean="0">
              <a:hlinkClick r:id="rId2" tooltip="Hadoop"/>
            </a:endParaRPr>
          </a:p>
          <a:p>
            <a:pPr>
              <a:buFont typeface="Wingdings" pitchFamily="2" charset="2"/>
              <a:buChar char="§"/>
            </a:pPr>
            <a:r>
              <a:rPr lang="en-US" sz="2400" dirty="0" smtClean="0">
                <a:hlinkClick r:id="rId2" tooltip="Hadoop"/>
              </a:rPr>
              <a:t> </a:t>
            </a:r>
            <a:r>
              <a:rPr lang="en-US" sz="2400" dirty="0" err="1" smtClean="0">
                <a:hlinkClick r:id="rId2" tooltip="Hadoop"/>
              </a:rPr>
              <a:t>Hadoop</a:t>
            </a:r>
            <a:r>
              <a:rPr lang="en-US" sz="2400" dirty="0" smtClean="0"/>
              <a:t> - helps in storing and analyzing data</a:t>
            </a:r>
          </a:p>
          <a:p>
            <a:pPr>
              <a:buFont typeface="Wingdings" pitchFamily="2" charset="2"/>
              <a:buChar char="§"/>
            </a:pPr>
            <a:r>
              <a:rPr lang="en-US" sz="2400" dirty="0" smtClean="0"/>
              <a:t> </a:t>
            </a:r>
            <a:r>
              <a:rPr lang="en-US" sz="2400" dirty="0" err="1" smtClean="0"/>
              <a:t>MongoDB</a:t>
            </a:r>
            <a:r>
              <a:rPr lang="en-US" sz="2400" dirty="0" smtClean="0"/>
              <a:t> - used on datasets that change frequently</a:t>
            </a:r>
          </a:p>
          <a:p>
            <a:pPr>
              <a:buFont typeface="Wingdings" pitchFamily="2" charset="2"/>
              <a:buChar char="§"/>
            </a:pPr>
            <a:r>
              <a:rPr lang="en-US" sz="2400" dirty="0" smtClean="0"/>
              <a:t> </a:t>
            </a:r>
            <a:r>
              <a:rPr lang="en-US" sz="2400" dirty="0" err="1" smtClean="0"/>
              <a:t>Talend</a:t>
            </a:r>
            <a:r>
              <a:rPr lang="en-US" sz="2400" dirty="0" smtClean="0"/>
              <a:t> - used for data integration and management</a:t>
            </a:r>
          </a:p>
          <a:p>
            <a:pPr>
              <a:buFont typeface="Wingdings" pitchFamily="2" charset="2"/>
              <a:buChar char="§"/>
            </a:pPr>
            <a:r>
              <a:rPr lang="en-US" sz="2400" dirty="0" smtClean="0"/>
              <a:t> Cassandra - a distributed database used to handle chunks of data</a:t>
            </a:r>
          </a:p>
          <a:p>
            <a:pPr>
              <a:buFont typeface="Wingdings" pitchFamily="2" charset="2"/>
              <a:buChar char="§"/>
            </a:pPr>
            <a:r>
              <a:rPr lang="en-US" sz="2400" dirty="0" smtClean="0"/>
              <a:t> Spark - used for real-time processing and analyzing large amounts of data</a:t>
            </a:r>
          </a:p>
          <a:p>
            <a:pPr>
              <a:buFont typeface="Wingdings" pitchFamily="2" charset="2"/>
              <a:buChar char="§"/>
            </a:pPr>
            <a:r>
              <a:rPr lang="en-US" sz="2400" dirty="0" smtClean="0"/>
              <a:t> STORM - an open-source real-time computational system</a:t>
            </a:r>
          </a:p>
          <a:p>
            <a:pPr>
              <a:buFont typeface="Wingdings" pitchFamily="2" charset="2"/>
              <a:buChar char="§"/>
            </a:pPr>
            <a:r>
              <a:rPr lang="en-US" sz="2400" dirty="0" smtClean="0"/>
              <a:t> Kafka - a distributed streaming platform that is used for fault-tolerant storage</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0"/>
            <a:ext cx="8686800" cy="7355860"/>
          </a:xfrm>
          <a:prstGeom prst="rect">
            <a:avLst/>
          </a:prstGeom>
        </p:spPr>
        <p:txBody>
          <a:bodyPr wrap="square">
            <a:spAutoFit/>
          </a:bodyPr>
          <a:lstStyle/>
          <a:p>
            <a:pPr algn="ctr"/>
            <a:r>
              <a:rPr lang="en-US" sz="3200" b="1" dirty="0" err="1" smtClean="0">
                <a:solidFill>
                  <a:srgbClr val="002060"/>
                </a:solidFill>
              </a:rPr>
              <a:t>Hadoop</a:t>
            </a:r>
            <a:r>
              <a:rPr lang="en-US" sz="3200" b="1" dirty="0" smtClean="0">
                <a:solidFill>
                  <a:srgbClr val="002060"/>
                </a:solidFill>
              </a:rPr>
              <a:t> environment and its components</a:t>
            </a:r>
          </a:p>
          <a:p>
            <a:pPr fontAlgn="base"/>
            <a:r>
              <a:rPr lang="en-US" sz="2400" dirty="0" err="1" smtClean="0"/>
              <a:t>Hadoop</a:t>
            </a:r>
            <a:r>
              <a:rPr lang="en-US" sz="2400" dirty="0" smtClean="0"/>
              <a:t> is an open source framework based on Java that manages the storage and processing of large amounts of data for applications. </a:t>
            </a:r>
            <a:r>
              <a:rPr lang="en-US" sz="2400" dirty="0" err="1" smtClean="0"/>
              <a:t>Hadoop</a:t>
            </a:r>
            <a:r>
              <a:rPr lang="en-US" sz="2400" dirty="0" smtClean="0"/>
              <a:t> uses distributed storage and parallel processing to handle big data and analytics jobs, breaking workloads down into smaller workloads that can be run at the same time. Following are the components that collectively form a </a:t>
            </a:r>
            <a:r>
              <a:rPr lang="en-US" sz="2400" dirty="0" err="1" smtClean="0"/>
              <a:t>Hadoop</a:t>
            </a:r>
            <a:r>
              <a:rPr lang="en-US" sz="2400" dirty="0" smtClean="0"/>
              <a:t> ecosystem: </a:t>
            </a:r>
          </a:p>
          <a:p>
            <a:pPr fontAlgn="base"/>
            <a:r>
              <a:rPr lang="en-US" sz="2400" b="1" dirty="0" smtClean="0"/>
              <a:t>HDFS: </a:t>
            </a:r>
            <a:r>
              <a:rPr lang="en-US" sz="2400" dirty="0" err="1" smtClean="0"/>
              <a:t>Hadoop</a:t>
            </a:r>
            <a:r>
              <a:rPr lang="en-US" sz="2400" dirty="0" smtClean="0"/>
              <a:t> Distributed File System</a:t>
            </a:r>
          </a:p>
          <a:p>
            <a:pPr fontAlgn="base"/>
            <a:r>
              <a:rPr lang="en-US" sz="2400" b="1" dirty="0" smtClean="0"/>
              <a:t>YARN:</a:t>
            </a:r>
            <a:r>
              <a:rPr lang="en-US" sz="2400" dirty="0" smtClean="0"/>
              <a:t> Yet Another Resource Negotiator</a:t>
            </a:r>
          </a:p>
          <a:p>
            <a:pPr fontAlgn="base"/>
            <a:r>
              <a:rPr lang="en-US" sz="2400" b="1" dirty="0" err="1" smtClean="0"/>
              <a:t>MapReduce</a:t>
            </a:r>
            <a:r>
              <a:rPr lang="en-US" sz="2400" b="1" dirty="0" smtClean="0"/>
              <a:t>:</a:t>
            </a:r>
            <a:r>
              <a:rPr lang="en-US" sz="2400" dirty="0" smtClean="0"/>
              <a:t> Programming based Data Processing</a:t>
            </a:r>
          </a:p>
          <a:p>
            <a:pPr fontAlgn="base"/>
            <a:r>
              <a:rPr lang="en-US" sz="2400" b="1" dirty="0" smtClean="0"/>
              <a:t>Spark:</a:t>
            </a:r>
            <a:r>
              <a:rPr lang="en-US" sz="2400" dirty="0" smtClean="0"/>
              <a:t> In-Memory data processing</a:t>
            </a:r>
          </a:p>
          <a:p>
            <a:pPr fontAlgn="base"/>
            <a:r>
              <a:rPr lang="en-US" sz="2400" b="1" dirty="0" smtClean="0"/>
              <a:t>PIG, HIVE:</a:t>
            </a:r>
            <a:r>
              <a:rPr lang="en-US" sz="2400" dirty="0" smtClean="0"/>
              <a:t> Query based processing of data services</a:t>
            </a:r>
          </a:p>
          <a:p>
            <a:pPr fontAlgn="base"/>
            <a:r>
              <a:rPr lang="en-US" sz="2400" b="1" dirty="0" err="1" smtClean="0"/>
              <a:t>HBase</a:t>
            </a:r>
            <a:r>
              <a:rPr lang="en-US" sz="2400" b="1" dirty="0" smtClean="0"/>
              <a:t>: </a:t>
            </a:r>
            <a:r>
              <a:rPr lang="en-US" sz="2400" dirty="0" err="1" smtClean="0"/>
              <a:t>NoSQL</a:t>
            </a:r>
            <a:r>
              <a:rPr lang="en-US" sz="2400" dirty="0" smtClean="0"/>
              <a:t> Database</a:t>
            </a:r>
          </a:p>
          <a:p>
            <a:pPr fontAlgn="base"/>
            <a:r>
              <a:rPr lang="en-US" sz="2400" b="1" dirty="0" smtClean="0"/>
              <a:t>Mahout, Spark </a:t>
            </a:r>
            <a:r>
              <a:rPr lang="en-US" sz="2400" b="1" dirty="0" err="1" smtClean="0"/>
              <a:t>MLLib</a:t>
            </a:r>
            <a:r>
              <a:rPr lang="en-US" sz="2400" b="1" dirty="0" smtClean="0"/>
              <a:t>:</a:t>
            </a:r>
            <a:r>
              <a:rPr lang="en-US" sz="2400" dirty="0" smtClean="0"/>
              <a:t> </a:t>
            </a:r>
            <a:r>
              <a:rPr lang="en-US" sz="2400" u="sng" dirty="0" smtClean="0">
                <a:hlinkClick r:id="rId2"/>
              </a:rPr>
              <a:t>Machine Learning </a:t>
            </a:r>
            <a:r>
              <a:rPr lang="en-US" sz="2400" dirty="0" smtClean="0"/>
              <a:t>algorithm libraries</a:t>
            </a:r>
          </a:p>
          <a:p>
            <a:pPr fontAlgn="base"/>
            <a:r>
              <a:rPr lang="en-US" sz="2400" b="1" dirty="0" smtClean="0"/>
              <a:t>Solar, </a:t>
            </a:r>
            <a:r>
              <a:rPr lang="en-US" sz="2400" b="1" dirty="0" err="1" smtClean="0"/>
              <a:t>Lucene</a:t>
            </a:r>
            <a:r>
              <a:rPr lang="en-US" sz="2400" b="1" dirty="0" smtClean="0"/>
              <a:t>:</a:t>
            </a:r>
            <a:r>
              <a:rPr lang="en-US" sz="2400" dirty="0" smtClean="0"/>
              <a:t> Searching and Indexing</a:t>
            </a:r>
          </a:p>
          <a:p>
            <a:pPr fontAlgn="base"/>
            <a:r>
              <a:rPr lang="en-US" sz="2400" b="1" dirty="0" smtClean="0"/>
              <a:t>Zookeeper:</a:t>
            </a:r>
            <a:r>
              <a:rPr lang="en-US" sz="2400" dirty="0" smtClean="0"/>
              <a:t> Managing cluster</a:t>
            </a:r>
          </a:p>
          <a:p>
            <a:pPr fontAlgn="base"/>
            <a:r>
              <a:rPr lang="en-US" sz="2400" b="1" dirty="0" err="1" smtClean="0"/>
              <a:t>Oozie</a:t>
            </a:r>
            <a:r>
              <a:rPr lang="en-US" sz="2400" b="1" dirty="0" smtClean="0"/>
              <a:t>:</a:t>
            </a:r>
            <a:r>
              <a:rPr lang="en-US" sz="2400" dirty="0" smtClean="0"/>
              <a:t> Job Scheduling</a:t>
            </a:r>
          </a:p>
          <a:p>
            <a:endParaRPr lang="en-US" sz="2400" b="1" dirty="0" smtClean="0">
              <a:solidFill>
                <a:srgbClr val="002060"/>
              </a:solidFill>
            </a:endParaRPr>
          </a:p>
          <a:p>
            <a:pPr algn="ctr"/>
            <a:endParaRPr lang="en-US" sz="3200" b="1" dirty="0">
              <a:solidFill>
                <a:srgbClr val="00206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descr="Lightbox"/>
          <p:cNvPicPr>
            <a:picLocks noChangeAspect="1" noChangeArrowheads="1"/>
          </p:cNvPicPr>
          <p:nvPr/>
        </p:nvPicPr>
        <p:blipFill>
          <a:blip r:embed="rId2" cstate="print"/>
          <a:srcRect/>
          <a:stretch>
            <a:fillRect/>
          </a:stretch>
        </p:blipFill>
        <p:spPr bwMode="auto">
          <a:xfrm>
            <a:off x="106516" y="228600"/>
            <a:ext cx="8958278" cy="6248400"/>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05282" y="304800"/>
            <a:ext cx="8686800" cy="6019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682</TotalTime>
  <Words>1224</Words>
  <Application>Microsoft Office PowerPoint</Application>
  <PresentationFormat>On-screen Show (4:3)</PresentationFormat>
  <Paragraphs>239</Paragraphs>
  <Slides>33</Slides>
  <Notes>1</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 BIG DATA ANALYTICS</vt:lpstr>
      <vt:lpstr>UNIT-1</vt:lpstr>
      <vt:lpstr>Define Big Data</vt:lpstr>
      <vt:lpstr>Slide 4</vt:lpstr>
      <vt:lpstr>Affects of Big Data on our daily lives:</vt:lpstr>
      <vt:lpstr>Slide 6</vt:lpstr>
      <vt:lpstr>Data Sizes</vt:lpstr>
      <vt:lpstr>Slide 8</vt:lpstr>
      <vt:lpstr>Slide 9</vt:lpstr>
      <vt:lpstr>Slide 10</vt:lpstr>
      <vt:lpstr>Source of Big Data:Where does it come from?</vt:lpstr>
      <vt:lpstr>Slide 12</vt:lpstr>
      <vt:lpstr>Slide 13</vt:lpstr>
      <vt:lpstr>Slide 14</vt:lpstr>
      <vt:lpstr>Challenges of Big Data</vt:lpstr>
      <vt:lpstr>Slide 16</vt:lpstr>
      <vt:lpstr>Slide 17</vt:lpstr>
      <vt:lpstr>Slide 18</vt:lpstr>
      <vt:lpstr>Slide 19</vt:lpstr>
      <vt:lpstr>Sources of Structured Data:    * SQL Databases   *  Spreadsheets such as Excel    * OLTP Systems    * Online forms    * Sensors such as GPS or RFID tags    * Network and Web server logs    * Medical device  Advantages of Structured Data: * Easy to understand and use * Consistency * Efficient storage and retrieval * Enhanced data security * Clear data lineage</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PC736CS - BIG DATA ANALYTICS</dc:title>
  <cp:lastModifiedBy>Vani V</cp:lastModifiedBy>
  <cp:revision>84</cp:revision>
  <dcterms:created xsi:type="dcterms:W3CDTF">2024-10-12T08:40:57Z</dcterms:created>
  <dcterms:modified xsi:type="dcterms:W3CDTF">2024-10-21T07:51:30Z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2022-06-03T00:00:00Z</vt:filetime>
  </property>
  <property fmtid="{D5CDD505-2E9C-101B-9397-08002B2CF9AE}" pid="3" name="Creator">
    <vt:lpwstr>Online2PDF.com</vt:lpwstr>
  </property>
  <property fmtid="{D5CDD505-2E9C-101B-9397-08002B2CF9AE}" pid="4" name="LastSaved">
    <vt:filetime>2022-06-03T00:00:00Z</vt:filetime>
  </property>
</Properties>
</file>